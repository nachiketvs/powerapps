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this is a skills and assurance problem rather than a tooling problem, and speed is deliberately absent from the argument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Verbal, not on the slide: failure here is gradual — the team splits attention between BAU and migration, does both at reduced effectiveness, and the programme is quietly defunded.
Also verbal: engineers new to a framework translate rather than redesign, so the new estate mirrors the old one for one, redundancy included.
If challenged on the market claim: UFT-to-Selenium accelerators exist only as consultancy IP; for Tosca there is effectively nothing, because Tosca is a repository model rather than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read downward. Ingest takes everything the organisation already owns. Reconstruct is where the value sits. Produce is mechanical once meaning has been agreed.
The teal components exist because manual cases are often the better record. The reconciler measures the script against the written case and the gap register captures steps or checks the script never had. A person decides what happens to each entry.
The upward arrow matters: findings from the equivalence harness re-open the gap register, so the loop closes rather than running once.
Target platform is the client's decision. Selenium suits an estate with existing Java or C# strength; Playwright suits a fresh start. The intent layer is identical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is not bolted on. Each differentiator states what it enables and who exercises the judgement it depends on. The dependency removed: migration and retraining are sequential today, which is why the business case has never closed. Here they run concurrently.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a technical audience will not accept the proposition without it.
The data contract idea is the important one: today a converted script inherits whatever record the original author happened to pick, which is why converted suites fail in the first environment refresh. Extracting the required state instead of the used row is what makes the target suite portable.
If asked about sunk investment: the value of the existing scripts is the business knowledge encoded in them, and that is precisely what is preserved into the intent repository. What stops is the recurring licence, not the investment already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plainly. The ask is one business process, and the three items on the right are the only things needed to begin. If the room wants the commercial framing, it belongs in conversation rather than on the final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Delete this slide from the client-facing version. It exists to rehearse the three objections.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72400" y="0"/>
            <a:ext cx="4389120" cy="6858000"/>
          </a:xfrm>
          <a:prstGeom prst="rect">
            <a:avLst/>
          </a:prstGeom>
          <a:solidFill>
            <a:srgbClr val="1A5FB4"/>
          </a:solidFill>
          <a:ln/>
        </p:spPr>
      </p:sp>
      <p:sp>
        <p:nvSpPr>
          <p:cNvPr id="3" name="Shape 1"/>
          <p:cNvSpPr/>
          <p:nvPr/>
        </p:nvSpPr>
        <p:spPr>
          <a:xfrm>
            <a:off x="6967728" y="1572768"/>
            <a:ext cx="1600200" cy="3712464"/>
          </a:xfrm>
          <a:prstGeom prst="chevron">
            <a:avLst/>
          </a:prstGeom>
          <a:solidFill>
            <a:srgbClr val="12447F"/>
          </a:solidFill>
          <a:ln/>
        </p:spPr>
      </p:sp>
      <p:sp>
        <p:nvSpPr>
          <p:cNvPr id="4" name="Shape 2"/>
          <p:cNvSpPr/>
          <p:nvPr/>
        </p:nvSpPr>
        <p:spPr>
          <a:xfrm>
            <a:off x="8613648" y="2212848"/>
            <a:ext cx="1097280" cy="2432304"/>
          </a:xfrm>
          <a:prstGeom prst="chevron">
            <a:avLst/>
          </a:prstGeom>
          <a:solidFill>
            <a:srgbClr val="3E7FC8"/>
          </a:solidFill>
          <a:ln/>
        </p:spPr>
      </p:sp>
      <p:sp>
        <p:nvSpPr>
          <p:cNvPr id="5" name="Shape 3"/>
          <p:cNvSpPr/>
          <p:nvPr/>
        </p:nvSpPr>
        <p:spPr>
          <a:xfrm>
            <a:off x="548640" y="1517904"/>
            <a:ext cx="2651760" cy="329184"/>
          </a:xfrm>
          <a:prstGeom prst="roundRect">
            <a:avLst>
              <a:gd name="adj" fmla="val 13889"/>
            </a:avLst>
          </a:prstGeom>
          <a:solidFill>
            <a:srgbClr val="17A398"/>
          </a:solidFill>
          <a:ln/>
        </p:spPr>
      </p:sp>
      <p:sp>
        <p:nvSpPr>
          <p:cNvPr id="6" name="Text 4"/>
          <p:cNvSpPr txBox="1"/>
          <p:nvPr/>
        </p:nvSpPr>
        <p:spPr>
          <a:xfrm>
            <a:off x="548640" y="1517904"/>
            <a:ext cx="2651760" cy="329184"/>
          </a:xfrm>
          <a:prstGeom prst="rect">
            <a:avLst/>
          </a:prstGeom>
          <a:noFill/>
          <a:ln/>
        </p:spPr>
        <p:txBody>
          <a:bodyPr wrap="square" lIns="0" tIns="0" rIns="0" bIns="0" rtlCol="0" anchor="ctr"/>
          <a:lstStyle/>
          <a:p>
            <a:pPr algn="ctr" indent="0" marL="0">
              <a:buNone/>
            </a:pPr>
            <a:r>
              <a:rPr lang="en-US" sz="950" b="1" spc="120" kern="0" dirty="0">
                <a:solidFill>
                  <a:srgbClr val="FFFFFF"/>
                </a:solidFill>
                <a:latin typeface="Verdana" pitchFamily="34" charset="0"/>
                <a:ea typeface="Verdana" pitchFamily="34" charset="-122"/>
                <a:cs typeface="Verdana" pitchFamily="34" charset="-120"/>
              </a:rPr>
              <a:t>AI SOLUTION CATALOGUE</a:t>
            </a:r>
            <a:endParaRPr lang="en-US" sz="950" dirty="0"/>
          </a:p>
        </p:txBody>
      </p:sp>
      <p:sp>
        <p:nvSpPr>
          <p:cNvPr id="7" name="Text 5"/>
          <p:cNvSpPr txBox="1"/>
          <p:nvPr/>
        </p:nvSpPr>
        <p:spPr>
          <a:xfrm>
            <a:off x="548640" y="2121408"/>
            <a:ext cx="6675120" cy="713232"/>
          </a:xfrm>
          <a:prstGeom prst="rect">
            <a:avLst/>
          </a:prstGeom>
          <a:noFill/>
          <a:ln/>
        </p:spPr>
        <p:txBody>
          <a:bodyPr wrap="square" lIns="0" tIns="0" rIns="0" bIns="0" rtlCol="0" anchor="t"/>
          <a:lstStyle/>
          <a:p>
            <a:pPr indent="0" marL="0">
              <a:buNone/>
            </a:pPr>
            <a:r>
              <a:rPr lang="en-US" sz="3300" b="1" dirty="0">
                <a:solidFill>
                  <a:srgbClr val="000000"/>
                </a:solidFill>
                <a:latin typeface="Verdana" pitchFamily="34" charset="0"/>
                <a:ea typeface="Verdana" pitchFamily="34" charset="-122"/>
                <a:cs typeface="Verdana" pitchFamily="34" charset="-120"/>
              </a:rPr>
              <a:t>AUTOMATION</a:t>
            </a:r>
            <a:endParaRPr lang="en-US" sz="3300" dirty="0"/>
          </a:p>
        </p:txBody>
      </p:sp>
      <p:sp>
        <p:nvSpPr>
          <p:cNvPr id="8" name="Text 6"/>
          <p:cNvSpPr txBox="1"/>
          <p:nvPr/>
        </p:nvSpPr>
        <p:spPr>
          <a:xfrm>
            <a:off x="548640" y="2724912"/>
            <a:ext cx="6675120" cy="713232"/>
          </a:xfrm>
          <a:prstGeom prst="rect">
            <a:avLst/>
          </a:prstGeom>
          <a:noFill/>
          <a:ln/>
        </p:spPr>
        <p:txBody>
          <a:bodyPr wrap="square" lIns="0" tIns="0" rIns="0" bIns="0" rtlCol="0" anchor="t"/>
          <a:lstStyle/>
          <a:p>
            <a:pPr indent="0" marL="0">
              <a:buNone/>
            </a:pPr>
            <a:r>
              <a:rPr lang="en-US" sz="3300" b="1" dirty="0">
                <a:solidFill>
                  <a:srgbClr val="1A5FB4"/>
                </a:solidFill>
                <a:latin typeface="Verdana" pitchFamily="34" charset="0"/>
                <a:ea typeface="Verdana" pitchFamily="34" charset="-122"/>
                <a:cs typeface="Verdana" pitchFamily="34" charset="-120"/>
              </a:rPr>
              <a:t>CONVERSION AGENT</a:t>
            </a:r>
            <a:endParaRPr lang="en-US" sz="3300" dirty="0"/>
          </a:p>
        </p:txBody>
      </p:sp>
      <p:sp>
        <p:nvSpPr>
          <p:cNvPr id="9" name="Text 7"/>
          <p:cNvSpPr txBox="1"/>
          <p:nvPr/>
        </p:nvSpPr>
        <p:spPr>
          <a:xfrm>
            <a:off x="566928" y="3639312"/>
            <a:ext cx="6035040" cy="822960"/>
          </a:xfrm>
          <a:prstGeom prst="rect">
            <a:avLst/>
          </a:prstGeom>
          <a:noFill/>
          <a:ln/>
        </p:spPr>
        <p:txBody>
          <a:bodyPr wrap="square" lIns="0" tIns="0" rIns="0" bIns="0" rtlCol="0" anchor="t"/>
          <a:lstStyle/>
          <a:p>
            <a:pPr indent="0" marL="0">
              <a:lnSpc>
                <a:spcPts val="2100"/>
              </a:lnSpc>
              <a:buNone/>
            </a:pPr>
            <a:r>
              <a:rPr lang="en-US" sz="1350" dirty="0">
                <a:solidFill>
                  <a:srgbClr val="000000"/>
                </a:solidFill>
                <a:latin typeface="Verdana" pitchFamily="34" charset="0"/>
                <a:ea typeface="Verdana" pitchFamily="34" charset="-122"/>
                <a:cs typeface="Verdana" pitchFamily="34" charset="-120"/>
              </a:rPr>
              <a:t>Migrating a licensed automation estate to open source, without pausing delivery and without reducing the team.</a:t>
            </a:r>
            <a:endParaRPr lang="en-US" sz="1350" dirty="0"/>
          </a:p>
        </p:txBody>
      </p:sp>
      <p:sp>
        <p:nvSpPr>
          <p:cNvPr id="10" name="Text 8"/>
          <p:cNvSpPr txBox="1"/>
          <p:nvPr/>
        </p:nvSpPr>
        <p:spPr>
          <a:xfrm>
            <a:off x="566928" y="4681728"/>
            <a:ext cx="6217920" cy="310896"/>
          </a:xfrm>
          <a:prstGeom prst="rect">
            <a:avLst/>
          </a:prstGeom>
          <a:noFill/>
          <a:ln/>
        </p:spPr>
        <p:txBody>
          <a:bodyPr wrap="square" lIns="0" tIns="0" rIns="0" bIns="0" rtlCol="0" anchor="t"/>
          <a:lstStyle/>
          <a:p>
            <a:pPr indent="0" marL="0">
              <a:buNone/>
            </a:pPr>
            <a:r>
              <a:rPr lang="en-US" sz="1200" b="1" dirty="0">
                <a:solidFill>
                  <a:srgbClr val="000000"/>
                </a:solidFill>
                <a:latin typeface="Verdana" pitchFamily="34" charset="0"/>
                <a:ea typeface="Verdana" pitchFamily="34" charset="-122"/>
                <a:cs typeface="Verdana" pitchFamily="34" charset="-120"/>
              </a:rPr>
              <a:t>Tosca  ·  UFT  ·  Worksoft</a:t>
            </a:r>
            <a:r>
              <a:rPr lang="en-US" sz="1200" dirty="0">
                <a:solidFill>
                  <a:srgbClr val="1A5FB4"/>
                </a:solidFill>
                <a:latin typeface="Verdana" pitchFamily="34" charset="0"/>
                <a:ea typeface="Verdana" pitchFamily="34" charset="-122"/>
                <a:cs typeface="Verdana" pitchFamily="34" charset="-120"/>
              </a:rPr>
              <a:t>        to        </a:t>
            </a:r>
            <a:r>
              <a:rPr lang="en-US" sz="1200" b="1" dirty="0">
                <a:solidFill>
                  <a:srgbClr val="1A5FB4"/>
                </a:solidFill>
                <a:latin typeface="Verdana" pitchFamily="34" charset="0"/>
                <a:ea typeface="Verdana" pitchFamily="34" charset="-122"/>
                <a:cs typeface="Verdana" pitchFamily="34" charset="-120"/>
              </a:rPr>
              <a:t>Selenium  or  Playwright</a:t>
            </a:r>
            <a:endParaRPr lang="en-US" sz="1200" dirty="0"/>
          </a:p>
        </p:txBody>
      </p:sp>
      <p:sp>
        <p:nvSpPr>
          <p:cNvPr id="11" name="Shape 9"/>
          <p:cNvSpPr/>
          <p:nvPr/>
        </p:nvSpPr>
        <p:spPr>
          <a:xfrm>
            <a:off x="566928" y="5358384"/>
            <a:ext cx="237744" cy="237744"/>
          </a:xfrm>
          <a:prstGeom prst="diamond">
            <a:avLst/>
          </a:prstGeom>
          <a:solidFill>
            <a:srgbClr val="1A5FB4"/>
          </a:solidFill>
          <a:ln/>
        </p:spPr>
      </p:sp>
      <p:sp>
        <p:nvSpPr>
          <p:cNvPr id="12" name="Shape 10"/>
          <p:cNvSpPr/>
          <p:nvPr/>
        </p:nvSpPr>
        <p:spPr>
          <a:xfrm>
            <a:off x="950976" y="5358384"/>
            <a:ext cx="237744" cy="237744"/>
          </a:xfrm>
          <a:prstGeom prst="diamond">
            <a:avLst/>
          </a:prstGeom>
          <a:solidFill>
            <a:srgbClr val="17A398"/>
          </a:solidFill>
          <a:ln/>
        </p:spPr>
      </p:sp>
      <p:sp>
        <p:nvSpPr>
          <p:cNvPr id="13" name="Shape 11"/>
          <p:cNvSpPr/>
          <p:nvPr/>
        </p:nvSpPr>
        <p:spPr>
          <a:xfrm>
            <a:off x="1335024" y="5358384"/>
            <a:ext cx="237744" cy="237744"/>
          </a:xfrm>
          <a:prstGeom prst="diamond">
            <a:avLst/>
          </a:prstGeom>
          <a:solidFill>
            <a:srgbClr val="12447F"/>
          </a:solidFill>
          <a:ln/>
        </p:spPr>
      </p:sp>
      <p:sp>
        <p:nvSpPr>
          <p:cNvPr id="14" name="Text 12"/>
          <p:cNvSpPr txBox="1"/>
          <p:nvPr/>
        </p:nvSpPr>
        <p:spPr>
          <a:xfrm>
            <a:off x="566928" y="5943600"/>
            <a:ext cx="4572000" cy="274320"/>
          </a:xfrm>
          <a:prstGeom prst="rect">
            <a:avLst/>
          </a:prstGeom>
          <a:noFill/>
          <a:ln/>
        </p:spPr>
        <p:txBody>
          <a:bodyPr wrap="square" lIns="0" tIns="0" rIns="0" bIns="0" rtlCol="0" anchor="t"/>
          <a:lstStyle/>
          <a:p>
            <a:pPr indent="0" marL="0">
              <a:buNone/>
            </a:pPr>
            <a:r>
              <a:rPr lang="en-US" sz="1050" b="1" spc="100" kern="0" dirty="0">
                <a:solidFill>
                  <a:srgbClr val="12447F"/>
                </a:solidFill>
                <a:latin typeface="Verdana" pitchFamily="34" charset="0"/>
                <a:ea typeface="Verdana" pitchFamily="34" charset="-122"/>
                <a:cs typeface="Verdana" pitchFamily="34" charset="-120"/>
              </a:rPr>
              <a:t>MyOrg  ·  Quality Engineering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498848" cy="6858000"/>
          </a:xfrm>
          <a:prstGeom prst="rect">
            <a:avLst/>
          </a:prstGeom>
          <a:solidFill>
            <a:srgbClr val="1A5FB4"/>
          </a:solidFill>
          <a:ln/>
        </p:spPr>
      </p:sp>
      <p:sp>
        <p:nvSpPr>
          <p:cNvPr id="3" name="Shape 1"/>
          <p:cNvSpPr/>
          <p:nvPr/>
        </p:nvSpPr>
        <p:spPr>
          <a:xfrm>
            <a:off x="4224528" y="2834640"/>
            <a:ext cx="530352" cy="1280160"/>
          </a:xfrm>
          <a:prstGeom prst="chevron">
            <a:avLst/>
          </a:prstGeom>
          <a:solidFill>
            <a:srgbClr val="12447F"/>
          </a:solidFill>
          <a:ln/>
        </p:spPr>
      </p:sp>
      <p:sp>
        <p:nvSpPr>
          <p:cNvPr id="4" name="Text 2"/>
          <p:cNvSpPr txBox="1"/>
          <p:nvPr/>
        </p:nvSpPr>
        <p:spPr>
          <a:xfrm>
            <a:off x="457200" y="475488"/>
            <a:ext cx="3657600" cy="237744"/>
          </a:xfrm>
          <a:prstGeom prst="rect">
            <a:avLst/>
          </a:prstGeom>
          <a:noFill/>
          <a:ln/>
        </p:spPr>
        <p:txBody>
          <a:bodyPr wrap="square" lIns="0" tIns="0" rIns="0" bIns="0" rtlCol="0" anchor="t"/>
          <a:lstStyle/>
          <a:p>
            <a:pPr indent="0" marL="0">
              <a:buNone/>
            </a:pPr>
            <a:r>
              <a:rPr lang="en-US" sz="1000" b="1" spc="180" kern="0" dirty="0">
                <a:solidFill>
                  <a:srgbClr val="A8CBF0"/>
                </a:solidFill>
                <a:latin typeface="Verdana" pitchFamily="34" charset="0"/>
                <a:ea typeface="Verdana" pitchFamily="34" charset="-122"/>
                <a:cs typeface="Verdana" pitchFamily="34" charset="-120"/>
              </a:rPr>
              <a:t>THE PROBLEM TODAY</a:t>
            </a:r>
            <a:endParaRPr lang="en-US" sz="1000" dirty="0"/>
          </a:p>
        </p:txBody>
      </p:sp>
      <p:sp>
        <p:nvSpPr>
          <p:cNvPr id="5" name="Text 3"/>
          <p:cNvSpPr txBox="1"/>
          <p:nvPr/>
        </p:nvSpPr>
        <p:spPr>
          <a:xfrm>
            <a:off x="457200" y="804672"/>
            <a:ext cx="3749040" cy="590702"/>
          </a:xfrm>
          <a:prstGeom prst="rect">
            <a:avLst/>
          </a:prstGeom>
          <a:noFill/>
          <a:ln/>
        </p:spPr>
        <p:txBody>
          <a:bodyPr wrap="square" lIns="0" tIns="0" rIns="0" bIns="0" rtlCol="0" anchor="t"/>
          <a:lstStyle/>
          <a:p>
            <a:pPr indent="0" marL="0">
              <a:buNone/>
            </a:pPr>
            <a:r>
              <a:rPr lang="en-US" sz="2100" b="1" dirty="0">
                <a:solidFill>
                  <a:srgbClr val="FFFFFF"/>
                </a:solidFill>
                <a:latin typeface="Verdana" pitchFamily="34" charset="0"/>
                <a:ea typeface="Verdana" pitchFamily="34" charset="-122"/>
                <a:cs typeface="Verdana" pitchFamily="34" charset="-120"/>
              </a:rPr>
              <a:t>MIGRATION IS A</a:t>
            </a:r>
            <a:endParaRPr lang="en-US" sz="2100" dirty="0"/>
          </a:p>
        </p:txBody>
      </p:sp>
      <p:sp>
        <p:nvSpPr>
          <p:cNvPr id="6" name="Text 4"/>
          <p:cNvSpPr txBox="1"/>
          <p:nvPr/>
        </p:nvSpPr>
        <p:spPr>
          <a:xfrm>
            <a:off x="457200" y="1205636"/>
            <a:ext cx="3749040" cy="590702"/>
          </a:xfrm>
          <a:prstGeom prst="rect">
            <a:avLst/>
          </a:prstGeom>
          <a:noFill/>
          <a:ln/>
        </p:spPr>
        <p:txBody>
          <a:bodyPr wrap="square" lIns="0" tIns="0" rIns="0" bIns="0" rtlCol="0" anchor="t"/>
          <a:lstStyle/>
          <a:p>
            <a:pPr indent="0" marL="0">
              <a:buNone/>
            </a:pPr>
            <a:r>
              <a:rPr lang="en-US" sz="2100" b="1" dirty="0">
                <a:solidFill>
                  <a:srgbClr val="A8CBF0"/>
                </a:solidFill>
                <a:latin typeface="Verdana" pitchFamily="34" charset="0"/>
                <a:ea typeface="Verdana" pitchFamily="34" charset="-122"/>
                <a:cs typeface="Verdana" pitchFamily="34" charset="-120"/>
              </a:rPr>
              <a:t>SKILLS PROBLEM</a:t>
            </a:r>
            <a:endParaRPr lang="en-US" sz="2100" dirty="0"/>
          </a:p>
        </p:txBody>
      </p:sp>
      <p:sp>
        <p:nvSpPr>
          <p:cNvPr id="7" name="Text 5"/>
          <p:cNvSpPr txBox="1"/>
          <p:nvPr/>
        </p:nvSpPr>
        <p:spPr>
          <a:xfrm>
            <a:off x="457200" y="1956816"/>
            <a:ext cx="3611880" cy="822960"/>
          </a:xfrm>
          <a:prstGeom prst="rect">
            <a:avLst/>
          </a:prstGeom>
          <a:noFill/>
          <a:ln/>
        </p:spPr>
        <p:txBody>
          <a:bodyPr wrap="square" lIns="0" tIns="0" rIns="0" bIns="0" rtlCol="0" anchor="t"/>
          <a:lstStyle/>
          <a:p>
            <a:pPr indent="0" marL="0">
              <a:lnSpc>
                <a:spcPts val="1900"/>
              </a:lnSpc>
              <a:buNone/>
            </a:pPr>
            <a:r>
              <a:rPr lang="en-US" sz="1250" dirty="0">
                <a:solidFill>
                  <a:srgbClr val="FFFFFF"/>
                </a:solidFill>
                <a:latin typeface="Verdana" pitchFamily="34" charset="0"/>
                <a:ea typeface="Verdana" pitchFamily="34" charset="-122"/>
                <a:cs typeface="Verdana" pitchFamily="34" charset="-120"/>
              </a:rPr>
              <a:t>Model-based automation and modern open-source engineering are two different professions.</a:t>
            </a:r>
            <a:endParaRPr lang="en-US" sz="1250" dirty="0"/>
          </a:p>
        </p:txBody>
      </p:sp>
      <p:sp>
        <p:nvSpPr>
          <p:cNvPr id="8" name="Text 6"/>
          <p:cNvSpPr txBox="1"/>
          <p:nvPr/>
        </p:nvSpPr>
        <p:spPr>
          <a:xfrm>
            <a:off x="457200" y="2889504"/>
            <a:ext cx="3657600" cy="237744"/>
          </a:xfrm>
          <a:prstGeom prst="rect">
            <a:avLst/>
          </a:prstGeom>
          <a:noFill/>
          <a:ln/>
        </p:spPr>
        <p:txBody>
          <a:bodyPr wrap="square" lIns="0" tIns="0" rIns="0" bIns="0" rtlCol="0" anchor="t"/>
          <a:lstStyle/>
          <a:p>
            <a:pPr indent="0" marL="0">
              <a:buNone/>
            </a:pPr>
            <a:r>
              <a:rPr lang="en-US" sz="950" b="1" spc="180" kern="0" dirty="0">
                <a:solidFill>
                  <a:srgbClr val="7FE3DA"/>
                </a:solidFill>
                <a:latin typeface="Verdana" pitchFamily="34" charset="0"/>
                <a:ea typeface="Verdana" pitchFamily="34" charset="-122"/>
                <a:cs typeface="Verdana" pitchFamily="34" charset="-120"/>
              </a:rPr>
              <a:t>WHICH LEAVES TWO OPTIONS</a:t>
            </a:r>
            <a:endParaRPr lang="en-US" sz="950" dirty="0"/>
          </a:p>
        </p:txBody>
      </p:sp>
      <p:sp>
        <p:nvSpPr>
          <p:cNvPr id="9" name="Shape 7"/>
          <p:cNvSpPr/>
          <p:nvPr/>
        </p:nvSpPr>
        <p:spPr>
          <a:xfrm>
            <a:off x="457200" y="3273552"/>
            <a:ext cx="182880" cy="182880"/>
          </a:xfrm>
          <a:prstGeom prst="ellipse">
            <a:avLst/>
          </a:prstGeom>
          <a:solidFill>
            <a:srgbClr val="17A398"/>
          </a:solidFill>
          <a:ln/>
        </p:spPr>
      </p:sp>
      <p:sp>
        <p:nvSpPr>
          <p:cNvPr id="10" name="Text 8"/>
          <p:cNvSpPr txBox="1"/>
          <p:nvPr/>
        </p:nvSpPr>
        <p:spPr>
          <a:xfrm>
            <a:off x="749808" y="3218688"/>
            <a:ext cx="3291840" cy="274320"/>
          </a:xfrm>
          <a:prstGeom prst="rect">
            <a:avLst/>
          </a:prstGeom>
          <a:noFill/>
          <a:ln/>
        </p:spPr>
        <p:txBody>
          <a:bodyPr wrap="square" lIns="0" tIns="0" rIns="0" bIns="0" rtlCol="0" anchor="t"/>
          <a:lstStyle/>
          <a:p>
            <a:pPr indent="0" marL="0">
              <a:buNone/>
            </a:pPr>
            <a:r>
              <a:rPr lang="en-US" sz="1250" b="1" dirty="0">
                <a:solidFill>
                  <a:srgbClr val="FFFFFF"/>
                </a:solidFill>
                <a:latin typeface="Verdana" pitchFamily="34" charset="0"/>
                <a:ea typeface="Verdana" pitchFamily="34" charset="-122"/>
                <a:cs typeface="Verdana" pitchFamily="34" charset="-120"/>
              </a:rPr>
              <a:t>Hire dual-skilled engineers</a:t>
            </a:r>
            <a:endParaRPr lang="en-US" sz="1250" dirty="0"/>
          </a:p>
        </p:txBody>
      </p:sp>
      <p:sp>
        <p:nvSpPr>
          <p:cNvPr id="11" name="Text 9"/>
          <p:cNvSpPr txBox="1"/>
          <p:nvPr/>
        </p:nvSpPr>
        <p:spPr>
          <a:xfrm>
            <a:off x="749808" y="3511296"/>
            <a:ext cx="3291840" cy="475488"/>
          </a:xfrm>
          <a:prstGeom prst="rect">
            <a:avLst/>
          </a:prstGeom>
          <a:noFill/>
          <a:ln/>
        </p:spPr>
        <p:txBody>
          <a:bodyPr wrap="square" lIns="0" tIns="0" rIns="0" bIns="0" rtlCol="0" anchor="t"/>
          <a:lstStyle/>
          <a:p>
            <a:pPr indent="0" marL="0">
              <a:lnSpc>
                <a:spcPts val="1500"/>
              </a:lnSpc>
              <a:buNone/>
            </a:pPr>
            <a:r>
              <a:rPr lang="en-US" sz="1100" dirty="0">
                <a:solidFill>
                  <a:srgbClr val="FFFFFF"/>
                </a:solidFill>
                <a:latin typeface="Verdana" pitchFamily="34" charset="0"/>
                <a:ea typeface="Verdana" pitchFamily="34" charset="-122"/>
                <a:cs typeface="Verdana" pitchFamily="34" charset="-120"/>
              </a:rPr>
              <a:t>Scarce supply sustains a premium for the life of the programme.</a:t>
            </a:r>
            <a:endParaRPr lang="en-US" sz="1100" dirty="0"/>
          </a:p>
        </p:txBody>
      </p:sp>
      <p:sp>
        <p:nvSpPr>
          <p:cNvPr id="12" name="Text 10"/>
          <p:cNvSpPr txBox="1"/>
          <p:nvPr/>
        </p:nvSpPr>
        <p:spPr>
          <a:xfrm>
            <a:off x="749808" y="4005072"/>
            <a:ext cx="3291840" cy="420624"/>
          </a:xfrm>
          <a:prstGeom prst="rect">
            <a:avLst/>
          </a:prstGeom>
          <a:noFill/>
          <a:ln/>
        </p:spPr>
        <p:txBody>
          <a:bodyPr wrap="square" lIns="0" tIns="0" rIns="0" bIns="0" rtlCol="0" anchor="t"/>
          <a:lstStyle/>
          <a:p>
            <a:pPr indent="0" marL="0">
              <a:lnSpc>
                <a:spcPts val="1500"/>
              </a:lnSpc>
              <a:buNone/>
            </a:pPr>
            <a:r>
              <a:rPr lang="en-US" sz="1100" b="1" dirty="0">
                <a:solidFill>
                  <a:srgbClr val="7FE3DA"/>
                </a:solidFill>
                <a:latin typeface="Verdana" pitchFamily="34" charset="0"/>
                <a:ea typeface="Verdana" pitchFamily="34" charset="-122"/>
                <a:cs typeface="Verdana" pitchFamily="34" charset="-120"/>
              </a:rPr>
              <a:t>A cost the business absorbs throughout.</a:t>
            </a:r>
            <a:endParaRPr lang="en-US" sz="1100" dirty="0"/>
          </a:p>
        </p:txBody>
      </p:sp>
      <p:sp>
        <p:nvSpPr>
          <p:cNvPr id="13" name="Shape 11"/>
          <p:cNvSpPr/>
          <p:nvPr/>
        </p:nvSpPr>
        <p:spPr>
          <a:xfrm>
            <a:off x="457200" y="4608576"/>
            <a:ext cx="182880" cy="182880"/>
          </a:xfrm>
          <a:prstGeom prst="ellipse">
            <a:avLst/>
          </a:prstGeom>
          <a:solidFill>
            <a:srgbClr val="17A398"/>
          </a:solidFill>
          <a:ln/>
        </p:spPr>
      </p:sp>
      <p:sp>
        <p:nvSpPr>
          <p:cNvPr id="14" name="Text 12"/>
          <p:cNvSpPr txBox="1"/>
          <p:nvPr/>
        </p:nvSpPr>
        <p:spPr>
          <a:xfrm>
            <a:off x="749808" y="4553712"/>
            <a:ext cx="3291840" cy="274320"/>
          </a:xfrm>
          <a:prstGeom prst="rect">
            <a:avLst/>
          </a:prstGeom>
          <a:noFill/>
          <a:ln/>
        </p:spPr>
        <p:txBody>
          <a:bodyPr wrap="square" lIns="0" tIns="0" rIns="0" bIns="0" rtlCol="0" anchor="t"/>
          <a:lstStyle/>
          <a:p>
            <a:pPr indent="0" marL="0">
              <a:buNone/>
            </a:pPr>
            <a:r>
              <a:rPr lang="en-US" sz="1250" b="1" dirty="0">
                <a:solidFill>
                  <a:srgbClr val="FFFFFF"/>
                </a:solidFill>
                <a:latin typeface="Verdana" pitchFamily="34" charset="0"/>
                <a:ea typeface="Verdana" pitchFamily="34" charset="-122"/>
                <a:cs typeface="Verdana" pitchFamily="34" charset="-120"/>
              </a:rPr>
              <a:t>Retrain your own team</a:t>
            </a:r>
            <a:endParaRPr lang="en-US" sz="1250" dirty="0"/>
          </a:p>
        </p:txBody>
      </p:sp>
      <p:sp>
        <p:nvSpPr>
          <p:cNvPr id="15" name="Text 13"/>
          <p:cNvSpPr txBox="1"/>
          <p:nvPr/>
        </p:nvSpPr>
        <p:spPr>
          <a:xfrm>
            <a:off x="749808" y="4846320"/>
            <a:ext cx="3291840" cy="475488"/>
          </a:xfrm>
          <a:prstGeom prst="rect">
            <a:avLst/>
          </a:prstGeom>
          <a:noFill/>
          <a:ln/>
        </p:spPr>
        <p:txBody>
          <a:bodyPr wrap="square" lIns="0" tIns="0" rIns="0" bIns="0" rtlCol="0" anchor="t"/>
          <a:lstStyle/>
          <a:p>
            <a:pPr indent="0" marL="0">
              <a:lnSpc>
                <a:spcPts val="1500"/>
              </a:lnSpc>
              <a:buNone/>
            </a:pPr>
            <a:r>
              <a:rPr lang="en-US" sz="1100" dirty="0">
                <a:solidFill>
                  <a:srgbClr val="FFFFFF"/>
                </a:solidFill>
                <a:latin typeface="Verdana" pitchFamily="34" charset="0"/>
                <a:ea typeface="Verdana" pitchFamily="34" charset="-122"/>
                <a:cs typeface="Verdana" pitchFamily="34" charset="-120"/>
              </a:rPr>
              <a:t>Six to nine months elapse before productivity returns.</a:t>
            </a:r>
            <a:endParaRPr lang="en-US" sz="1100" dirty="0"/>
          </a:p>
        </p:txBody>
      </p:sp>
      <p:sp>
        <p:nvSpPr>
          <p:cNvPr id="16" name="Text 14"/>
          <p:cNvSpPr txBox="1"/>
          <p:nvPr/>
        </p:nvSpPr>
        <p:spPr>
          <a:xfrm>
            <a:off x="749808" y="5340096"/>
            <a:ext cx="3291840" cy="420624"/>
          </a:xfrm>
          <a:prstGeom prst="rect">
            <a:avLst/>
          </a:prstGeom>
          <a:noFill/>
          <a:ln/>
        </p:spPr>
        <p:txBody>
          <a:bodyPr wrap="square" lIns="0" tIns="0" rIns="0" bIns="0" rtlCol="0" anchor="t"/>
          <a:lstStyle/>
          <a:p>
            <a:pPr indent="0" marL="0">
              <a:lnSpc>
                <a:spcPts val="1500"/>
              </a:lnSpc>
              <a:buNone/>
            </a:pPr>
            <a:r>
              <a:rPr lang="en-US" sz="1100" b="1" dirty="0">
                <a:solidFill>
                  <a:srgbClr val="7FE3DA"/>
                </a:solidFill>
                <a:latin typeface="Verdana" pitchFamily="34" charset="0"/>
                <a:ea typeface="Verdana" pitchFamily="34" charset="-122"/>
                <a:cs typeface="Verdana" pitchFamily="34" charset="-120"/>
              </a:rPr>
              <a:t>Delivery quality declines across that period.</a:t>
            </a:r>
            <a:endParaRPr lang="en-US" sz="1100" dirty="0"/>
          </a:p>
        </p:txBody>
      </p:sp>
      <p:sp>
        <p:nvSpPr>
          <p:cNvPr id="17" name="Text 15"/>
          <p:cNvSpPr txBox="1"/>
          <p:nvPr/>
        </p:nvSpPr>
        <p:spPr>
          <a:xfrm>
            <a:off x="457200" y="6035040"/>
            <a:ext cx="3611880" cy="566928"/>
          </a:xfrm>
          <a:prstGeom prst="rect">
            <a:avLst/>
          </a:prstGeom>
          <a:noFill/>
          <a:ln/>
        </p:spPr>
        <p:txBody>
          <a:bodyPr wrap="square" lIns="0" tIns="0" rIns="0" bIns="0" rtlCol="0" anchor="t"/>
          <a:lstStyle/>
          <a:p>
            <a:pPr indent="0" marL="0">
              <a:lnSpc>
                <a:spcPts val="1800"/>
              </a:lnSpc>
              <a:buNone/>
            </a:pPr>
            <a:r>
              <a:rPr lang="en-US" sz="1200" b="1" dirty="0">
                <a:solidFill>
                  <a:srgbClr val="FFFFFF"/>
                </a:solidFill>
                <a:latin typeface="Verdana" pitchFamily="34" charset="0"/>
                <a:ea typeface="Verdana" pitchFamily="34" charset="-122"/>
                <a:cs typeface="Verdana" pitchFamily="34" charset="-120"/>
              </a:rPr>
              <a:t>Both routes have been costed. Neither has been approved.</a:t>
            </a:r>
            <a:endParaRPr lang="en-US" sz="1200" dirty="0"/>
          </a:p>
        </p:txBody>
      </p:sp>
      <p:sp>
        <p:nvSpPr>
          <p:cNvPr id="18" name="Shape 16"/>
          <p:cNvSpPr/>
          <p:nvPr/>
        </p:nvSpPr>
        <p:spPr>
          <a:xfrm>
            <a:off x="4882896" y="365760"/>
            <a:ext cx="6729984" cy="2011680"/>
          </a:xfrm>
          <a:prstGeom prst="roundRect">
            <a:avLst>
              <a:gd name="adj" fmla="val 2273"/>
            </a:avLst>
          </a:prstGeom>
          <a:solidFill>
            <a:srgbClr val="F1F4F7"/>
          </a:solidFill>
          <a:ln/>
        </p:spPr>
      </p:sp>
      <p:sp>
        <p:nvSpPr>
          <p:cNvPr id="19" name="Shape 17"/>
          <p:cNvSpPr/>
          <p:nvPr/>
        </p:nvSpPr>
        <p:spPr>
          <a:xfrm>
            <a:off x="5120640" y="548640"/>
            <a:ext cx="3566160" cy="310896"/>
          </a:xfrm>
          <a:prstGeom prst="roundRect">
            <a:avLst>
              <a:gd name="adj" fmla="val 14706"/>
            </a:avLst>
          </a:prstGeom>
          <a:solidFill>
            <a:srgbClr val="1A5FB4"/>
          </a:solidFill>
          <a:ln/>
        </p:spPr>
      </p:sp>
      <p:sp>
        <p:nvSpPr>
          <p:cNvPr id="20" name="Text 18"/>
          <p:cNvSpPr txBox="1"/>
          <p:nvPr/>
        </p:nvSpPr>
        <p:spPr>
          <a:xfrm>
            <a:off x="5120640" y="548640"/>
            <a:ext cx="3566160" cy="310896"/>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Verdana" pitchFamily="34" charset="0"/>
                <a:ea typeface="Verdana" pitchFamily="34" charset="-122"/>
                <a:cs typeface="Verdana" pitchFamily="34" charset="-120"/>
              </a:rPr>
              <a:t>WHY EXISTING APPROACHES FAIL</a:t>
            </a:r>
            <a:endParaRPr lang="en-US" sz="900" dirty="0"/>
          </a:p>
        </p:txBody>
      </p:sp>
      <p:sp>
        <p:nvSpPr>
          <p:cNvPr id="21" name="Text 19"/>
          <p:cNvSpPr txBox="1"/>
          <p:nvPr/>
        </p:nvSpPr>
        <p:spPr>
          <a:xfrm>
            <a:off x="5157216" y="1024128"/>
            <a:ext cx="6181344" cy="1207008"/>
          </a:xfrm>
          <a:prstGeom prst="rect">
            <a:avLst/>
          </a:prstGeom>
          <a:noFill/>
          <a:ln/>
        </p:spPr>
        <p:txBody>
          <a:bodyPr wrap="square" lIns="0" tIns="0" rIns="0" bIns="0" rtlCol="0" anchor="t"/>
          <a:lstStyle/>
          <a:p>
            <a:pPr marL="190500" indent="-190500">
              <a:lnSpc>
                <a:spcPts val="1700"/>
              </a:lnSpc>
              <a:spcAft>
                <a:spcPts val="700"/>
              </a:spcAft>
              <a:buSzPct val="100000"/>
              <a:buChar char="•"/>
            </a:pPr>
            <a:r>
              <a:rPr lang="en-US" sz="1150" dirty="0">
                <a:solidFill>
                  <a:srgbClr val="000000"/>
                </a:solidFill>
                <a:latin typeface="Verdana" pitchFamily="34" charset="0"/>
                <a:ea typeface="Verdana" pitchFamily="34" charset="-122"/>
                <a:cs typeface="Verdana" pitchFamily="34" charset="-120"/>
              </a:rPr>
              <a:t>The market offers </a:t>
            </a:r>
            <a:r>
              <a:rPr lang="en-US" sz="1150" b="1" dirty="0">
                <a:solidFill>
                  <a:srgbClr val="000000"/>
                </a:solidFill>
                <a:latin typeface="Verdana" pitchFamily="34" charset="0"/>
                <a:ea typeface="Verdana" pitchFamily="34" charset="-122"/>
                <a:cs typeface="Verdana" pitchFamily="34" charset="-120"/>
              </a:rPr>
              <a:t>no migration product</a:t>
            </a:r>
            <a:r>
              <a:rPr lang="en-US" sz="1150" dirty="0">
                <a:solidFill>
                  <a:srgbClr val="000000"/>
                </a:solidFill>
                <a:latin typeface="Verdana" pitchFamily="34" charset="0"/>
                <a:ea typeface="Verdana" pitchFamily="34" charset="-122"/>
                <a:cs typeface="Verdana" pitchFamily="34" charset="-120"/>
              </a:rPr>
              <a:t> for licensed platforms</a:t>
            </a:r>
            <a:endParaRPr lang="en-US" sz="1150" dirty="0"/>
          </a:p>
          <a:p>
            <a:pPr marL="190500" indent="-190500">
              <a:lnSpc>
                <a:spcPts val="1700"/>
              </a:lnSpc>
              <a:spcAft>
                <a:spcPts val="700"/>
              </a:spcAft>
              <a:buSzPct val="100000"/>
              <a:buChar char="•"/>
            </a:pPr>
            <a:r>
              <a:rPr lang="en-US" sz="1150" dirty="0">
                <a:solidFill>
                  <a:srgbClr val="000000"/>
                </a:solidFill>
                <a:latin typeface="Verdana" pitchFamily="34" charset="0"/>
                <a:ea typeface="Verdana" pitchFamily="34" charset="-122"/>
                <a:cs typeface="Verdana" pitchFamily="34" charset="-120"/>
              </a:rPr>
              <a:t>Vendor roadmaps cover </a:t>
            </a:r>
            <a:r>
              <a:rPr lang="en-US" sz="1150" b="1" dirty="0">
                <a:solidFill>
                  <a:srgbClr val="000000"/>
                </a:solidFill>
                <a:latin typeface="Verdana" pitchFamily="34" charset="0"/>
                <a:ea typeface="Verdana" pitchFamily="34" charset="-122"/>
                <a:cs typeface="Verdana" pitchFamily="34" charset="-120"/>
              </a:rPr>
              <a:t>inbound migration only</a:t>
            </a:r>
            <a:r>
              <a:rPr lang="en-US" sz="1150" dirty="0">
                <a:solidFill>
                  <a:srgbClr val="000000"/>
                </a:solidFill>
                <a:latin typeface="Verdana" pitchFamily="34" charset="0"/>
                <a:ea typeface="Verdana" pitchFamily="34" charset="-122"/>
                <a:cs typeface="Verdana" pitchFamily="34" charset="-120"/>
              </a:rPr>
              <a:t>; accelerators sit inside consultancy engagements</a:t>
            </a:r>
            <a:endParaRPr lang="en-US" sz="1150" dirty="0"/>
          </a:p>
          <a:p>
            <a:pPr marL="190500" indent="-190500">
              <a:lnSpc>
                <a:spcPts val="1700"/>
              </a:lnSpc>
              <a:spcAft>
                <a:spcPts val="700"/>
              </a:spcAft>
              <a:buSzPct val="100000"/>
              <a:buChar char="•"/>
            </a:pPr>
            <a:r>
              <a:rPr lang="en-US" sz="1150" dirty="0">
                <a:solidFill>
                  <a:srgbClr val="000000"/>
                </a:solidFill>
                <a:latin typeface="Verdana" pitchFamily="34" charset="0"/>
                <a:ea typeface="Verdana" pitchFamily="34" charset="-122"/>
                <a:cs typeface="Verdana" pitchFamily="34" charset="-120"/>
              </a:rPr>
              <a:t>Syntax converters produce code that </a:t>
            </a:r>
            <a:r>
              <a:rPr lang="en-US" sz="1150" b="1" dirty="0">
                <a:solidFill>
                  <a:srgbClr val="000000"/>
                </a:solidFill>
                <a:latin typeface="Verdana" pitchFamily="34" charset="0"/>
                <a:ea typeface="Verdana" pitchFamily="34" charset="-122"/>
                <a:cs typeface="Verdana" pitchFamily="34" charset="-120"/>
              </a:rPr>
              <a:t>compiles and cannot be maintained</a:t>
            </a:r>
            <a:endParaRPr lang="en-US" sz="1150" dirty="0"/>
          </a:p>
        </p:txBody>
      </p:sp>
      <p:sp>
        <p:nvSpPr>
          <p:cNvPr id="22" name="Shape 20"/>
          <p:cNvSpPr/>
          <p:nvPr/>
        </p:nvSpPr>
        <p:spPr>
          <a:xfrm>
            <a:off x="4882896" y="2505456"/>
            <a:ext cx="6729984" cy="1828800"/>
          </a:xfrm>
          <a:prstGeom prst="roundRect">
            <a:avLst>
              <a:gd name="adj" fmla="val 2500"/>
            </a:avLst>
          </a:prstGeom>
          <a:solidFill>
            <a:srgbClr val="F1F4F7"/>
          </a:solidFill>
          <a:ln/>
        </p:spPr>
      </p:sp>
      <p:sp>
        <p:nvSpPr>
          <p:cNvPr id="23" name="Shape 21"/>
          <p:cNvSpPr/>
          <p:nvPr/>
        </p:nvSpPr>
        <p:spPr>
          <a:xfrm>
            <a:off x="5120640" y="2688336"/>
            <a:ext cx="2651760" cy="310896"/>
          </a:xfrm>
          <a:prstGeom prst="roundRect">
            <a:avLst>
              <a:gd name="adj" fmla="val 14706"/>
            </a:avLst>
          </a:prstGeom>
          <a:solidFill>
            <a:srgbClr val="17A398"/>
          </a:solidFill>
          <a:ln/>
        </p:spPr>
      </p:sp>
      <p:sp>
        <p:nvSpPr>
          <p:cNvPr id="24" name="Text 22"/>
          <p:cNvSpPr txBox="1"/>
          <p:nvPr/>
        </p:nvSpPr>
        <p:spPr>
          <a:xfrm>
            <a:off x="5120640" y="2688336"/>
            <a:ext cx="2651760" cy="310896"/>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Verdana" pitchFamily="34" charset="0"/>
                <a:ea typeface="Verdana" pitchFamily="34" charset="-122"/>
                <a:cs typeface="Verdana" pitchFamily="34" charset="-120"/>
              </a:rPr>
              <a:t>WHY THIS NEEDS AI</a:t>
            </a:r>
            <a:endParaRPr lang="en-US" sz="900" dirty="0"/>
          </a:p>
        </p:txBody>
      </p:sp>
      <p:sp>
        <p:nvSpPr>
          <p:cNvPr id="25" name="Text 23"/>
          <p:cNvSpPr txBox="1"/>
          <p:nvPr/>
        </p:nvSpPr>
        <p:spPr>
          <a:xfrm>
            <a:off x="5157216" y="3163824"/>
            <a:ext cx="6181344" cy="1024128"/>
          </a:xfrm>
          <a:prstGeom prst="rect">
            <a:avLst/>
          </a:prstGeom>
          <a:noFill/>
          <a:ln/>
        </p:spPr>
        <p:txBody>
          <a:bodyPr wrap="square" lIns="0" tIns="0" rIns="0" bIns="0" rtlCol="0" anchor="t"/>
          <a:lstStyle/>
          <a:p>
            <a:pPr marL="190500" indent="-190500">
              <a:lnSpc>
                <a:spcPts val="1700"/>
              </a:lnSpc>
              <a:spcAft>
                <a:spcPts val="700"/>
              </a:spcAft>
              <a:buSzPct val="100000"/>
              <a:buChar char="•"/>
            </a:pPr>
            <a:r>
              <a:rPr lang="en-US" sz="1150" dirty="0">
                <a:solidFill>
                  <a:srgbClr val="000000"/>
                </a:solidFill>
                <a:latin typeface="Verdana" pitchFamily="34" charset="0"/>
                <a:ea typeface="Verdana" pitchFamily="34" charset="-122"/>
                <a:cs typeface="Verdana" pitchFamily="34" charset="-120"/>
              </a:rPr>
              <a:t>Every test carries a </a:t>
            </a:r>
            <a:r>
              <a:rPr lang="en-US" sz="1150" b="1" dirty="0">
                <a:solidFill>
                  <a:srgbClr val="000000"/>
                </a:solidFill>
                <a:latin typeface="Verdana" pitchFamily="34" charset="0"/>
                <a:ea typeface="Verdana" pitchFamily="34" charset="-122"/>
                <a:cs typeface="Verdana" pitchFamily="34" charset="-120"/>
              </a:rPr>
              <a:t>purpose that was never written down</a:t>
            </a:r>
            <a:endParaRPr lang="en-US" sz="1150" dirty="0"/>
          </a:p>
          <a:p>
            <a:pPr marL="190500" indent="-190500">
              <a:lnSpc>
                <a:spcPts val="1700"/>
              </a:lnSpc>
              <a:spcAft>
                <a:spcPts val="700"/>
              </a:spcAft>
              <a:buSzPct val="100000"/>
              <a:buChar char="•"/>
            </a:pPr>
            <a:r>
              <a:rPr lang="en-US" sz="1150" dirty="0">
                <a:solidFill>
                  <a:srgbClr val="000000"/>
                </a:solidFill>
                <a:latin typeface="Verdana" pitchFamily="34" charset="0"/>
                <a:ea typeface="Verdana" pitchFamily="34" charset="-122"/>
                <a:cs typeface="Verdana" pitchFamily="34" charset="-120"/>
              </a:rPr>
              <a:t>Recovering it requires </a:t>
            </a:r>
            <a:r>
              <a:rPr lang="en-US" sz="1150" b="1" dirty="0">
                <a:solidFill>
                  <a:srgbClr val="000000"/>
                </a:solidFill>
                <a:latin typeface="Verdana" pitchFamily="34" charset="0"/>
                <a:ea typeface="Verdana" pitchFamily="34" charset="-122"/>
                <a:cs typeface="Verdana" pitchFamily="34" charset="-120"/>
              </a:rPr>
              <a:t>judgement about meaning</a:t>
            </a:r>
            <a:r>
              <a:rPr lang="en-US" sz="1150" dirty="0">
                <a:solidFill>
                  <a:srgbClr val="000000"/>
                </a:solidFill>
                <a:latin typeface="Verdana" pitchFamily="34" charset="0"/>
                <a:ea typeface="Verdana" pitchFamily="34" charset="-122"/>
                <a:cs typeface="Verdana" pitchFamily="34" charset="-120"/>
              </a:rPr>
              <a:t>, applied at estate scale</a:t>
            </a:r>
            <a:endParaRPr lang="en-US" sz="1150" dirty="0"/>
          </a:p>
          <a:p>
            <a:pPr marL="190500" indent="-190500">
              <a:lnSpc>
                <a:spcPts val="1700"/>
              </a:lnSpc>
              <a:spcAft>
                <a:spcPts val="700"/>
              </a:spcAft>
              <a:buSzPct val="100000"/>
              <a:buChar char="•"/>
            </a:pPr>
            <a:r>
              <a:rPr lang="en-US" sz="1150" dirty="0">
                <a:solidFill>
                  <a:srgbClr val="000000"/>
                </a:solidFill>
                <a:latin typeface="Verdana" pitchFamily="34" charset="0"/>
                <a:ea typeface="Verdana" pitchFamily="34" charset="-122"/>
                <a:cs typeface="Verdana" pitchFamily="34" charset="-120"/>
              </a:rPr>
              <a:t>Rules engines have never achieved this, which leaves migration a </a:t>
            </a:r>
            <a:r>
              <a:rPr lang="en-US" sz="1150" b="1" dirty="0">
                <a:solidFill>
                  <a:srgbClr val="000000"/>
                </a:solidFill>
                <a:latin typeface="Verdana" pitchFamily="34" charset="0"/>
                <a:ea typeface="Verdana" pitchFamily="34" charset="-122"/>
                <a:cs typeface="Verdana" pitchFamily="34" charset="-120"/>
              </a:rPr>
              <a:t>manual rewrite priced in headcount</a:t>
            </a:r>
            <a:endParaRPr lang="en-US" sz="1150" dirty="0"/>
          </a:p>
        </p:txBody>
      </p:sp>
      <p:sp>
        <p:nvSpPr>
          <p:cNvPr id="26" name="Shape 24"/>
          <p:cNvSpPr/>
          <p:nvPr/>
        </p:nvSpPr>
        <p:spPr>
          <a:xfrm>
            <a:off x="4882896" y="4462272"/>
            <a:ext cx="6729984" cy="2011680"/>
          </a:xfrm>
          <a:prstGeom prst="roundRect">
            <a:avLst>
              <a:gd name="adj" fmla="val 2273"/>
            </a:avLst>
          </a:prstGeom>
          <a:solidFill>
            <a:srgbClr val="F1F4F7"/>
          </a:solidFill>
          <a:ln/>
        </p:spPr>
      </p:sp>
      <p:sp>
        <p:nvSpPr>
          <p:cNvPr id="27" name="Shape 25"/>
          <p:cNvSpPr/>
          <p:nvPr/>
        </p:nvSpPr>
        <p:spPr>
          <a:xfrm>
            <a:off x="5120640" y="4645152"/>
            <a:ext cx="3383280" cy="310896"/>
          </a:xfrm>
          <a:prstGeom prst="roundRect">
            <a:avLst>
              <a:gd name="adj" fmla="val 14706"/>
            </a:avLst>
          </a:prstGeom>
          <a:solidFill>
            <a:srgbClr val="12447F"/>
          </a:solidFill>
          <a:ln/>
        </p:spPr>
      </p:sp>
      <p:sp>
        <p:nvSpPr>
          <p:cNvPr id="28" name="Text 26"/>
          <p:cNvSpPr txBox="1"/>
          <p:nvPr/>
        </p:nvSpPr>
        <p:spPr>
          <a:xfrm>
            <a:off x="5120640" y="4645152"/>
            <a:ext cx="3383280" cy="310896"/>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Verdana" pitchFamily="34" charset="0"/>
                <a:ea typeface="Verdana" pitchFamily="34" charset="-122"/>
                <a:cs typeface="Verdana" pitchFamily="34" charset="-120"/>
              </a:rPr>
              <a:t>THE COST OF STANDING STILL</a:t>
            </a:r>
            <a:endParaRPr lang="en-US" sz="900" dirty="0"/>
          </a:p>
        </p:txBody>
      </p:sp>
      <p:sp>
        <p:nvSpPr>
          <p:cNvPr id="29" name="Text 27"/>
          <p:cNvSpPr txBox="1"/>
          <p:nvPr/>
        </p:nvSpPr>
        <p:spPr>
          <a:xfrm>
            <a:off x="5157216" y="5120640"/>
            <a:ext cx="6181344" cy="1207008"/>
          </a:xfrm>
          <a:prstGeom prst="rect">
            <a:avLst/>
          </a:prstGeom>
          <a:noFill/>
          <a:ln/>
        </p:spPr>
        <p:txBody>
          <a:bodyPr wrap="square" lIns="0" tIns="0" rIns="0" bIns="0" rtlCol="0" anchor="t"/>
          <a:lstStyle/>
          <a:p>
            <a:pPr marL="190500" indent="-190500">
              <a:lnSpc>
                <a:spcPts val="1700"/>
              </a:lnSpc>
              <a:spcAft>
                <a:spcPts val="700"/>
              </a:spcAft>
              <a:buSzPct val="100000"/>
              <a:buChar char="•"/>
            </a:pPr>
            <a:r>
              <a:rPr lang="en-US" sz="1150" dirty="0">
                <a:solidFill>
                  <a:srgbClr val="000000"/>
                </a:solidFill>
                <a:latin typeface="Verdana" pitchFamily="34" charset="0"/>
                <a:ea typeface="Verdana" pitchFamily="34" charset="-122"/>
                <a:cs typeface="Verdana" pitchFamily="34" charset="-120"/>
              </a:rPr>
              <a:t>A regional gas utility runs </a:t>
            </a:r>
            <a:r>
              <a:rPr lang="en-US" sz="1150" b="1" dirty="0">
                <a:solidFill>
                  <a:srgbClr val="000000"/>
                </a:solidFill>
                <a:latin typeface="Verdana" pitchFamily="34" charset="0"/>
                <a:ea typeface="Verdana" pitchFamily="34" charset="-122"/>
                <a:cs typeface="Verdana" pitchFamily="34" charset="-120"/>
              </a:rPr>
              <a:t>SAP billing</a:t>
            </a:r>
            <a:r>
              <a:rPr lang="en-US" sz="1150" dirty="0">
                <a:solidFill>
                  <a:srgbClr val="000000"/>
                </a:solidFill>
                <a:latin typeface="Verdana" pitchFamily="34" charset="0"/>
                <a:ea typeface="Verdana" pitchFamily="34" charset="-122"/>
                <a:cs typeface="Verdana" pitchFamily="34" charset="-120"/>
              </a:rPr>
              <a:t> on a large Tosca estate covering meter-to-cash</a:t>
            </a:r>
            <a:endParaRPr lang="en-US" sz="1150" dirty="0"/>
          </a:p>
          <a:p>
            <a:pPr marL="190500" indent="-190500">
              <a:lnSpc>
                <a:spcPts val="1700"/>
              </a:lnSpc>
              <a:spcAft>
                <a:spcPts val="700"/>
              </a:spcAft>
              <a:buSzPct val="100000"/>
              <a:buChar char="•"/>
            </a:pPr>
            <a:r>
              <a:rPr lang="en-US" sz="1150" dirty="0">
                <a:solidFill>
                  <a:srgbClr val="000000"/>
                </a:solidFill>
                <a:latin typeface="Verdana" pitchFamily="34" charset="0"/>
                <a:ea typeface="Verdana" pitchFamily="34" charset="-122"/>
                <a:cs typeface="Verdana" pitchFamily="34" charset="-120"/>
              </a:rPr>
              <a:t>The business case has been </a:t>
            </a:r>
            <a:r>
              <a:rPr lang="en-US" sz="1150" b="1" dirty="0">
                <a:solidFill>
                  <a:srgbClr val="000000"/>
                </a:solidFill>
                <a:latin typeface="Verdana" pitchFamily="34" charset="0"/>
                <a:ea typeface="Verdana" pitchFamily="34" charset="-122"/>
                <a:cs typeface="Verdana" pitchFamily="34" charset="-120"/>
              </a:rPr>
              <a:t>declined twice</a:t>
            </a:r>
            <a:r>
              <a:rPr lang="en-US" sz="1150" dirty="0">
                <a:solidFill>
                  <a:srgbClr val="000000"/>
                </a:solidFill>
                <a:latin typeface="Verdana" pitchFamily="34" charset="0"/>
                <a:ea typeface="Verdana" pitchFamily="34" charset="-122"/>
                <a:cs typeface="Verdana" pitchFamily="34" charset="-120"/>
              </a:rPr>
              <a:t>, on duration and specialist headcount</a:t>
            </a:r>
            <a:endParaRPr lang="en-US" sz="1150" dirty="0"/>
          </a:p>
          <a:p>
            <a:pPr marL="190500" indent="-190500">
              <a:lnSpc>
                <a:spcPts val="1700"/>
              </a:lnSpc>
              <a:spcAft>
                <a:spcPts val="700"/>
              </a:spcAft>
              <a:buSzPct val="100000"/>
              <a:buChar char="•"/>
            </a:pPr>
            <a:r>
              <a:rPr lang="en-US" sz="1150" dirty="0">
                <a:solidFill>
                  <a:srgbClr val="000000"/>
                </a:solidFill>
                <a:latin typeface="Verdana" pitchFamily="34" charset="0"/>
                <a:ea typeface="Verdana" pitchFamily="34" charset="-122"/>
                <a:cs typeface="Verdana" pitchFamily="34" charset="-120"/>
              </a:rPr>
              <a:t>Renewals continue and </a:t>
            </a:r>
            <a:r>
              <a:rPr lang="en-US" sz="1150" b="1" dirty="0">
                <a:solidFill>
                  <a:srgbClr val="000000"/>
                </a:solidFill>
                <a:latin typeface="Verdana" pitchFamily="34" charset="0"/>
                <a:ea typeface="Verdana" pitchFamily="34" charset="-122"/>
                <a:cs typeface="Verdana" pitchFamily="34" charset="-120"/>
              </a:rPr>
              <a:t>test scope remains bounded by the platform</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20624" y="237744"/>
            <a:ext cx="7315200" cy="237744"/>
          </a:xfrm>
          <a:prstGeom prst="rect">
            <a:avLst/>
          </a:prstGeom>
          <a:noFill/>
          <a:ln/>
        </p:spPr>
        <p:txBody>
          <a:bodyPr wrap="square" lIns="0" tIns="0" rIns="0" bIns="0" rtlCol="0" anchor="t"/>
          <a:lstStyle/>
          <a:p>
            <a:pPr indent="0" marL="0">
              <a:buNone/>
            </a:pPr>
            <a:r>
              <a:rPr lang="en-US" sz="1000" b="1" spc="180" kern="0" dirty="0">
                <a:solidFill>
                  <a:srgbClr val="17A398"/>
                </a:solidFill>
                <a:latin typeface="Verdana" pitchFamily="34" charset="0"/>
                <a:ea typeface="Verdana" pitchFamily="34" charset="-122"/>
                <a:cs typeface="Verdana" pitchFamily="34" charset="-120"/>
              </a:rPr>
              <a:t>THE SOLUTION</a:t>
            </a:r>
            <a:endParaRPr lang="en-US" sz="1000" dirty="0"/>
          </a:p>
        </p:txBody>
      </p:sp>
      <p:sp>
        <p:nvSpPr>
          <p:cNvPr id="3" name="Text 1"/>
          <p:cNvSpPr txBox="1"/>
          <p:nvPr/>
        </p:nvSpPr>
        <p:spPr>
          <a:xfrm>
            <a:off x="420624" y="493776"/>
            <a:ext cx="6766560" cy="519379"/>
          </a:xfrm>
          <a:prstGeom prst="rect">
            <a:avLst/>
          </a:prstGeom>
          <a:noFill/>
          <a:ln/>
        </p:spPr>
        <p:txBody>
          <a:bodyPr wrap="square" lIns="0" tIns="0" rIns="0" bIns="0" rtlCol="0" anchor="t"/>
          <a:lstStyle/>
          <a:p>
            <a:pPr indent="0" marL="0">
              <a:buNone/>
            </a:pPr>
            <a:r>
              <a:rPr lang="en-US" sz="1800" b="1" dirty="0">
                <a:solidFill>
                  <a:srgbClr val="000000"/>
                </a:solidFill>
                <a:latin typeface="Verdana" pitchFamily="34" charset="0"/>
                <a:ea typeface="Verdana" pitchFamily="34" charset="-122"/>
                <a:cs typeface="Verdana" pitchFamily="34" charset="-120"/>
              </a:rPr>
              <a:t>HOW THE CONVERSION AGENT</a:t>
            </a:r>
            <a:endParaRPr lang="en-US" sz="1800" dirty="0"/>
          </a:p>
        </p:txBody>
      </p:sp>
      <p:sp>
        <p:nvSpPr>
          <p:cNvPr id="4" name="Text 2"/>
          <p:cNvSpPr txBox="1"/>
          <p:nvPr/>
        </p:nvSpPr>
        <p:spPr>
          <a:xfrm>
            <a:off x="420624" y="843991"/>
            <a:ext cx="6766560" cy="519379"/>
          </a:xfrm>
          <a:prstGeom prst="rect">
            <a:avLst/>
          </a:prstGeom>
          <a:noFill/>
          <a:ln/>
        </p:spPr>
        <p:txBody>
          <a:bodyPr wrap="square" lIns="0" tIns="0" rIns="0" bIns="0" rtlCol="0" anchor="t"/>
          <a:lstStyle/>
          <a:p>
            <a:pPr indent="0" marL="0">
              <a:buNone/>
            </a:pPr>
            <a:r>
              <a:rPr lang="en-US" sz="1800" b="1" dirty="0">
                <a:solidFill>
                  <a:srgbClr val="1A5FB4"/>
                </a:solidFill>
                <a:latin typeface="Verdana" pitchFamily="34" charset="0"/>
                <a:ea typeface="Verdana" pitchFamily="34" charset="-122"/>
                <a:cs typeface="Verdana" pitchFamily="34" charset="-120"/>
              </a:rPr>
              <a:t>IS PUT TOGETHER</a:t>
            </a:r>
            <a:endParaRPr lang="en-US" sz="1800" dirty="0"/>
          </a:p>
        </p:txBody>
      </p:sp>
      <p:sp>
        <p:nvSpPr>
          <p:cNvPr id="5" name="Text 3"/>
          <p:cNvSpPr txBox="1"/>
          <p:nvPr/>
        </p:nvSpPr>
        <p:spPr>
          <a:xfrm>
            <a:off x="7223760" y="530352"/>
            <a:ext cx="4517136" cy="1005840"/>
          </a:xfrm>
          <a:prstGeom prst="rect">
            <a:avLst/>
          </a:prstGeom>
          <a:noFill/>
          <a:ln/>
        </p:spPr>
        <p:txBody>
          <a:bodyPr wrap="square" lIns="0" tIns="0" rIns="0" bIns="0" rtlCol="0" anchor="t"/>
          <a:lstStyle/>
          <a:p>
            <a:pPr indent="0" marL="0">
              <a:lnSpc>
                <a:spcPts val="1600"/>
              </a:lnSpc>
              <a:buNone/>
            </a:pPr>
            <a:r>
              <a:rPr lang="en-US" sz="1100" dirty="0">
                <a:solidFill>
                  <a:srgbClr val="000000"/>
                </a:solidFill>
                <a:latin typeface="Verdana" pitchFamily="34" charset="0"/>
                <a:ea typeface="Verdana" pitchFamily="34" charset="-122"/>
                <a:cs typeface="Verdana" pitchFamily="34" charset="-120"/>
              </a:rPr>
              <a:t>The agent rebuilds each test from its purpose, measures that purpose against the written manual case, and generates the target suite in Selenium or Playwright once a person has confirmed it.</a:t>
            </a:r>
            <a:endParaRPr lang="en-US" sz="1100" dirty="0"/>
          </a:p>
        </p:txBody>
      </p:sp>
      <p:sp>
        <p:nvSpPr>
          <p:cNvPr id="6" name="Text 4"/>
          <p:cNvSpPr txBox="1"/>
          <p:nvPr/>
        </p:nvSpPr>
        <p:spPr>
          <a:xfrm>
            <a:off x="420624" y="1591056"/>
            <a:ext cx="2103120" cy="237744"/>
          </a:xfrm>
          <a:prstGeom prst="rect">
            <a:avLst/>
          </a:prstGeom>
          <a:noFill/>
          <a:ln/>
        </p:spPr>
        <p:txBody>
          <a:bodyPr wrap="square" lIns="0" tIns="0" rIns="0" bIns="0" rtlCol="0" anchor="t"/>
          <a:lstStyle/>
          <a:p>
            <a:pPr indent="0" marL="0">
              <a:buNone/>
            </a:pPr>
            <a:r>
              <a:rPr lang="en-US" sz="900" b="1" spc="180" kern="0" dirty="0">
                <a:solidFill>
                  <a:srgbClr val="1A5FB4"/>
                </a:solidFill>
                <a:latin typeface="Verdana" pitchFamily="34" charset="0"/>
                <a:ea typeface="Verdana" pitchFamily="34" charset="-122"/>
                <a:cs typeface="Verdana" pitchFamily="34" charset="-120"/>
              </a:rPr>
              <a:t>SOURCES</a:t>
            </a:r>
            <a:endParaRPr lang="en-US" sz="900" dirty="0"/>
          </a:p>
        </p:txBody>
      </p:sp>
      <p:sp>
        <p:nvSpPr>
          <p:cNvPr id="7" name="Shape 5"/>
          <p:cNvSpPr/>
          <p:nvPr/>
        </p:nvSpPr>
        <p:spPr>
          <a:xfrm>
            <a:off x="420624" y="1883664"/>
            <a:ext cx="2103120" cy="713232"/>
          </a:xfrm>
          <a:prstGeom prst="roundRect">
            <a:avLst>
              <a:gd name="adj" fmla="val 6410"/>
            </a:avLst>
          </a:prstGeom>
          <a:solidFill>
            <a:srgbClr val="FFFFFF"/>
          </a:solidFill>
          <a:ln w="15875">
            <a:solidFill>
              <a:srgbClr val="1A5FB4"/>
            </a:solidFill>
            <a:prstDash val="solid"/>
          </a:ln>
        </p:spPr>
      </p:sp>
      <p:sp>
        <p:nvSpPr>
          <p:cNvPr id="8" name="Text 6"/>
          <p:cNvSpPr txBox="1"/>
          <p:nvPr/>
        </p:nvSpPr>
        <p:spPr>
          <a:xfrm>
            <a:off x="512064" y="2020824"/>
            <a:ext cx="1920240" cy="402336"/>
          </a:xfrm>
          <a:prstGeom prst="rect">
            <a:avLst/>
          </a:prstGeom>
          <a:noFill/>
          <a:ln/>
        </p:spPr>
        <p:txBody>
          <a:bodyPr wrap="square" lIns="0" tIns="0" rIns="0" bIns="0" rtlCol="0" anchor="t"/>
          <a:lstStyle/>
          <a:p>
            <a:pPr algn="ctr" indent="0" marL="0">
              <a:buNone/>
            </a:pPr>
            <a:r>
              <a:rPr lang="en-US" sz="900" b="1" dirty="0">
                <a:solidFill>
                  <a:srgbClr val="1A5FB4"/>
                </a:solidFill>
                <a:latin typeface="Verdana" pitchFamily="34" charset="0"/>
                <a:ea typeface="Verdana" pitchFamily="34" charset="-122"/>
                <a:cs typeface="Verdana" pitchFamily="34" charset="-120"/>
              </a:rPr>
              <a:t>LICENSED ESTATE</a:t>
            </a:r>
            <a:endParaRPr lang="en-US" sz="900" dirty="0"/>
          </a:p>
        </p:txBody>
      </p:sp>
      <p:sp>
        <p:nvSpPr>
          <p:cNvPr id="9" name="Text 7"/>
          <p:cNvSpPr txBox="1"/>
          <p:nvPr/>
        </p:nvSpPr>
        <p:spPr>
          <a:xfrm>
            <a:off x="512064" y="2212848"/>
            <a:ext cx="1920240" cy="310896"/>
          </a:xfrm>
          <a:prstGeom prst="rect">
            <a:avLst/>
          </a:prstGeom>
          <a:noFill/>
          <a:ln/>
        </p:spPr>
        <p:txBody>
          <a:bodyPr wrap="square" lIns="0" tIns="0" rIns="0" bIns="0" rtlCol="0" anchor="t"/>
          <a:lstStyle/>
          <a:p>
            <a:pPr algn="ctr" indent="0" marL="0">
              <a:lnSpc>
                <a:spcPts val="1150"/>
              </a:lnSpc>
              <a:buNone/>
            </a:pPr>
            <a:r>
              <a:rPr lang="en-US" sz="750" dirty="0">
                <a:solidFill>
                  <a:srgbClr val="000000"/>
                </a:solidFill>
                <a:latin typeface="Verdana" pitchFamily="34" charset="0"/>
                <a:ea typeface="Verdana" pitchFamily="34" charset="-122"/>
                <a:cs typeface="Verdana" pitchFamily="34" charset="-120"/>
              </a:rPr>
              <a:t>Tosca · UFT · Worksoft exports</a:t>
            </a:r>
            <a:endParaRPr lang="en-US" sz="750" dirty="0"/>
          </a:p>
        </p:txBody>
      </p:sp>
      <p:sp>
        <p:nvSpPr>
          <p:cNvPr id="10" name="Shape 8"/>
          <p:cNvSpPr/>
          <p:nvPr/>
        </p:nvSpPr>
        <p:spPr>
          <a:xfrm>
            <a:off x="2615184" y="2121408"/>
            <a:ext cx="182880" cy="256032"/>
          </a:xfrm>
          <a:prstGeom prst="chevron">
            <a:avLst/>
          </a:prstGeom>
          <a:solidFill>
            <a:srgbClr val="1A5FB4"/>
          </a:solidFill>
          <a:ln/>
        </p:spPr>
      </p:sp>
      <p:sp>
        <p:nvSpPr>
          <p:cNvPr id="11" name="Shape 9"/>
          <p:cNvSpPr/>
          <p:nvPr/>
        </p:nvSpPr>
        <p:spPr>
          <a:xfrm>
            <a:off x="420624" y="2706624"/>
            <a:ext cx="2103120" cy="713232"/>
          </a:xfrm>
          <a:prstGeom prst="roundRect">
            <a:avLst>
              <a:gd name="adj" fmla="val 6410"/>
            </a:avLst>
          </a:prstGeom>
          <a:solidFill>
            <a:srgbClr val="DFF2F0"/>
          </a:solidFill>
          <a:ln w="15875">
            <a:solidFill>
              <a:srgbClr val="17A398"/>
            </a:solidFill>
            <a:prstDash val="solid"/>
          </a:ln>
        </p:spPr>
      </p:sp>
      <p:sp>
        <p:nvSpPr>
          <p:cNvPr id="12" name="Text 10"/>
          <p:cNvSpPr txBox="1"/>
          <p:nvPr/>
        </p:nvSpPr>
        <p:spPr>
          <a:xfrm>
            <a:off x="512064" y="2843784"/>
            <a:ext cx="1920240" cy="402336"/>
          </a:xfrm>
          <a:prstGeom prst="rect">
            <a:avLst/>
          </a:prstGeom>
          <a:noFill/>
          <a:ln/>
        </p:spPr>
        <p:txBody>
          <a:bodyPr wrap="square" lIns="0" tIns="0" rIns="0" bIns="0" rtlCol="0" anchor="t"/>
          <a:lstStyle/>
          <a:p>
            <a:pPr algn="ctr" indent="0" marL="0">
              <a:buNone/>
            </a:pPr>
            <a:r>
              <a:rPr lang="en-US" sz="900" b="1" dirty="0">
                <a:solidFill>
                  <a:srgbClr val="0B6B63"/>
                </a:solidFill>
                <a:latin typeface="Verdana" pitchFamily="34" charset="0"/>
                <a:ea typeface="Verdana" pitchFamily="34" charset="-122"/>
                <a:cs typeface="Verdana" pitchFamily="34" charset="-120"/>
              </a:rPr>
              <a:t>MANUAL TEST CASES</a:t>
            </a:r>
            <a:endParaRPr lang="en-US" sz="900" dirty="0"/>
          </a:p>
        </p:txBody>
      </p:sp>
      <p:sp>
        <p:nvSpPr>
          <p:cNvPr id="13" name="Text 11"/>
          <p:cNvSpPr txBox="1"/>
          <p:nvPr/>
        </p:nvSpPr>
        <p:spPr>
          <a:xfrm>
            <a:off x="512064" y="3035808"/>
            <a:ext cx="1920240" cy="310896"/>
          </a:xfrm>
          <a:prstGeom prst="rect">
            <a:avLst/>
          </a:prstGeom>
          <a:noFill/>
          <a:ln/>
        </p:spPr>
        <p:txBody>
          <a:bodyPr wrap="square" lIns="0" tIns="0" rIns="0" bIns="0" rtlCol="0" anchor="t"/>
          <a:lstStyle/>
          <a:p>
            <a:pPr algn="ctr" indent="0" marL="0">
              <a:lnSpc>
                <a:spcPts val="1150"/>
              </a:lnSpc>
              <a:buNone/>
            </a:pPr>
            <a:r>
              <a:rPr lang="en-US" sz="750" dirty="0">
                <a:solidFill>
                  <a:srgbClr val="000000"/>
                </a:solidFill>
                <a:latin typeface="Verdana" pitchFamily="34" charset="0"/>
                <a:ea typeface="Verdana" pitchFamily="34" charset="-122"/>
                <a:cs typeface="Verdana" pitchFamily="34" charset="-120"/>
              </a:rPr>
              <a:t>ALM · Excel · Word</a:t>
            </a:r>
            <a:endParaRPr lang="en-US" sz="750" dirty="0"/>
          </a:p>
        </p:txBody>
      </p:sp>
      <p:sp>
        <p:nvSpPr>
          <p:cNvPr id="14" name="Shape 12"/>
          <p:cNvSpPr/>
          <p:nvPr/>
        </p:nvSpPr>
        <p:spPr>
          <a:xfrm>
            <a:off x="2615184" y="2944368"/>
            <a:ext cx="182880" cy="256032"/>
          </a:xfrm>
          <a:prstGeom prst="chevron">
            <a:avLst/>
          </a:prstGeom>
          <a:solidFill>
            <a:srgbClr val="1A5FB4"/>
          </a:solidFill>
          <a:ln/>
        </p:spPr>
      </p:sp>
      <p:sp>
        <p:nvSpPr>
          <p:cNvPr id="15" name="Shape 13"/>
          <p:cNvSpPr/>
          <p:nvPr/>
        </p:nvSpPr>
        <p:spPr>
          <a:xfrm>
            <a:off x="420624" y="3529584"/>
            <a:ext cx="2103120" cy="713232"/>
          </a:xfrm>
          <a:prstGeom prst="roundRect">
            <a:avLst>
              <a:gd name="adj" fmla="val 6410"/>
            </a:avLst>
          </a:prstGeom>
          <a:solidFill>
            <a:srgbClr val="FFFFFF"/>
          </a:solidFill>
          <a:ln w="15875">
            <a:solidFill>
              <a:srgbClr val="1A5FB4"/>
            </a:solidFill>
            <a:prstDash val="solid"/>
          </a:ln>
        </p:spPr>
      </p:sp>
      <p:sp>
        <p:nvSpPr>
          <p:cNvPr id="16" name="Text 14"/>
          <p:cNvSpPr txBox="1"/>
          <p:nvPr/>
        </p:nvSpPr>
        <p:spPr>
          <a:xfrm>
            <a:off x="512064" y="3666744"/>
            <a:ext cx="1920240" cy="402336"/>
          </a:xfrm>
          <a:prstGeom prst="rect">
            <a:avLst/>
          </a:prstGeom>
          <a:noFill/>
          <a:ln/>
        </p:spPr>
        <p:txBody>
          <a:bodyPr wrap="square" lIns="0" tIns="0" rIns="0" bIns="0" rtlCol="0" anchor="t"/>
          <a:lstStyle/>
          <a:p>
            <a:pPr algn="ctr" indent="0" marL="0">
              <a:buNone/>
            </a:pPr>
            <a:r>
              <a:rPr lang="en-US" sz="900" b="1" dirty="0">
                <a:solidFill>
                  <a:srgbClr val="1A5FB4"/>
                </a:solidFill>
                <a:latin typeface="Verdana" pitchFamily="34" charset="0"/>
                <a:ea typeface="Verdana" pitchFamily="34" charset="-122"/>
                <a:cs typeface="Verdana" pitchFamily="34" charset="-120"/>
              </a:rPr>
              <a:t>TEST DATA ASSETS</a:t>
            </a:r>
            <a:endParaRPr lang="en-US" sz="900" dirty="0"/>
          </a:p>
        </p:txBody>
      </p:sp>
      <p:sp>
        <p:nvSpPr>
          <p:cNvPr id="17" name="Text 15"/>
          <p:cNvSpPr txBox="1"/>
          <p:nvPr/>
        </p:nvSpPr>
        <p:spPr>
          <a:xfrm>
            <a:off x="512064" y="3858768"/>
            <a:ext cx="1920240" cy="310896"/>
          </a:xfrm>
          <a:prstGeom prst="rect">
            <a:avLst/>
          </a:prstGeom>
          <a:noFill/>
          <a:ln/>
        </p:spPr>
        <p:txBody>
          <a:bodyPr wrap="square" lIns="0" tIns="0" rIns="0" bIns="0" rtlCol="0" anchor="t"/>
          <a:lstStyle/>
          <a:p>
            <a:pPr algn="ctr" indent="0" marL="0">
              <a:lnSpc>
                <a:spcPts val="1150"/>
              </a:lnSpc>
              <a:buNone/>
            </a:pPr>
            <a:r>
              <a:rPr lang="en-US" sz="750" dirty="0">
                <a:solidFill>
                  <a:srgbClr val="000000"/>
                </a:solidFill>
                <a:latin typeface="Verdana" pitchFamily="34" charset="0"/>
                <a:ea typeface="Verdana" pitchFamily="34" charset="-122"/>
                <a:cs typeface="Verdana" pitchFamily="34" charset="-120"/>
              </a:rPr>
              <a:t>TDM sets · masked extracts</a:t>
            </a:r>
            <a:endParaRPr lang="en-US" sz="750" dirty="0"/>
          </a:p>
        </p:txBody>
      </p:sp>
      <p:sp>
        <p:nvSpPr>
          <p:cNvPr id="18" name="Shape 16"/>
          <p:cNvSpPr/>
          <p:nvPr/>
        </p:nvSpPr>
        <p:spPr>
          <a:xfrm>
            <a:off x="2615184" y="3767328"/>
            <a:ext cx="182880" cy="256032"/>
          </a:xfrm>
          <a:prstGeom prst="chevron">
            <a:avLst/>
          </a:prstGeom>
          <a:solidFill>
            <a:srgbClr val="1A5FB4"/>
          </a:solidFill>
          <a:ln/>
        </p:spPr>
      </p:sp>
      <p:sp>
        <p:nvSpPr>
          <p:cNvPr id="19" name="Shape 17"/>
          <p:cNvSpPr/>
          <p:nvPr/>
        </p:nvSpPr>
        <p:spPr>
          <a:xfrm>
            <a:off x="420624" y="4352544"/>
            <a:ext cx="2103120" cy="713232"/>
          </a:xfrm>
          <a:prstGeom prst="roundRect">
            <a:avLst>
              <a:gd name="adj" fmla="val 6410"/>
            </a:avLst>
          </a:prstGeom>
          <a:solidFill>
            <a:srgbClr val="FFFFFF"/>
          </a:solidFill>
          <a:ln w="15875">
            <a:solidFill>
              <a:srgbClr val="1A5FB4"/>
            </a:solidFill>
            <a:prstDash val="solid"/>
          </a:ln>
        </p:spPr>
      </p:sp>
      <p:sp>
        <p:nvSpPr>
          <p:cNvPr id="20" name="Text 18"/>
          <p:cNvSpPr txBox="1"/>
          <p:nvPr/>
        </p:nvSpPr>
        <p:spPr>
          <a:xfrm>
            <a:off x="512064" y="4489704"/>
            <a:ext cx="1920240" cy="402336"/>
          </a:xfrm>
          <a:prstGeom prst="rect">
            <a:avLst/>
          </a:prstGeom>
          <a:noFill/>
          <a:ln/>
        </p:spPr>
        <p:txBody>
          <a:bodyPr wrap="square" lIns="0" tIns="0" rIns="0" bIns="0" rtlCol="0" anchor="t"/>
          <a:lstStyle/>
          <a:p>
            <a:pPr algn="ctr" indent="0" marL="0">
              <a:buNone/>
            </a:pPr>
            <a:r>
              <a:rPr lang="en-US" sz="900" b="1" dirty="0">
                <a:solidFill>
                  <a:srgbClr val="1A5FB4"/>
                </a:solidFill>
                <a:latin typeface="Verdana" pitchFamily="34" charset="0"/>
                <a:ea typeface="Verdana" pitchFamily="34" charset="-122"/>
                <a:cs typeface="Verdana" pitchFamily="34" charset="-120"/>
              </a:rPr>
              <a:t>REQUIREMENTS</a:t>
            </a:r>
            <a:endParaRPr lang="en-US" sz="900" dirty="0"/>
          </a:p>
        </p:txBody>
      </p:sp>
      <p:sp>
        <p:nvSpPr>
          <p:cNvPr id="21" name="Text 19"/>
          <p:cNvSpPr txBox="1"/>
          <p:nvPr/>
        </p:nvSpPr>
        <p:spPr>
          <a:xfrm>
            <a:off x="512064" y="4681728"/>
            <a:ext cx="1920240" cy="310896"/>
          </a:xfrm>
          <a:prstGeom prst="rect">
            <a:avLst/>
          </a:prstGeom>
          <a:noFill/>
          <a:ln/>
        </p:spPr>
        <p:txBody>
          <a:bodyPr wrap="square" lIns="0" tIns="0" rIns="0" bIns="0" rtlCol="0" anchor="t"/>
          <a:lstStyle/>
          <a:p>
            <a:pPr algn="ctr" indent="0" marL="0">
              <a:lnSpc>
                <a:spcPts val="1150"/>
              </a:lnSpc>
              <a:buNone/>
            </a:pPr>
            <a:r>
              <a:rPr lang="en-US" sz="750" dirty="0">
                <a:solidFill>
                  <a:srgbClr val="000000"/>
                </a:solidFill>
                <a:latin typeface="Verdana" pitchFamily="34" charset="0"/>
                <a:ea typeface="Verdana" pitchFamily="34" charset="-122"/>
                <a:cs typeface="Verdana" pitchFamily="34" charset="-120"/>
              </a:rPr>
              <a:t>stories · specs · defects</a:t>
            </a:r>
            <a:endParaRPr lang="en-US" sz="750" dirty="0"/>
          </a:p>
        </p:txBody>
      </p:sp>
      <p:sp>
        <p:nvSpPr>
          <p:cNvPr id="22" name="Shape 20"/>
          <p:cNvSpPr/>
          <p:nvPr/>
        </p:nvSpPr>
        <p:spPr>
          <a:xfrm>
            <a:off x="2615184" y="4590288"/>
            <a:ext cx="182880" cy="256032"/>
          </a:xfrm>
          <a:prstGeom prst="chevron">
            <a:avLst/>
          </a:prstGeom>
          <a:solidFill>
            <a:srgbClr val="1A5FB4"/>
          </a:solidFill>
          <a:ln/>
        </p:spPr>
      </p:sp>
      <p:sp>
        <p:nvSpPr>
          <p:cNvPr id="23" name="Shape 21"/>
          <p:cNvSpPr/>
          <p:nvPr/>
        </p:nvSpPr>
        <p:spPr>
          <a:xfrm>
            <a:off x="2926080" y="1481328"/>
            <a:ext cx="6309360" cy="3931920"/>
          </a:xfrm>
          <a:prstGeom prst="roundRect">
            <a:avLst>
              <a:gd name="adj" fmla="val 1163"/>
            </a:avLst>
          </a:prstGeom>
          <a:solidFill>
            <a:srgbClr val="E4ECF6"/>
          </a:solidFill>
          <a:ln w="19050">
            <a:solidFill>
              <a:srgbClr val="1A5FB4"/>
            </a:solidFill>
            <a:prstDash val="dash"/>
          </a:ln>
        </p:spPr>
      </p:sp>
      <p:sp>
        <p:nvSpPr>
          <p:cNvPr id="24" name="Text 22"/>
          <p:cNvSpPr txBox="1"/>
          <p:nvPr/>
        </p:nvSpPr>
        <p:spPr>
          <a:xfrm>
            <a:off x="2926080" y="1572768"/>
            <a:ext cx="6309360" cy="237744"/>
          </a:xfrm>
          <a:prstGeom prst="rect">
            <a:avLst/>
          </a:prstGeom>
          <a:noFill/>
          <a:ln/>
        </p:spPr>
        <p:txBody>
          <a:bodyPr wrap="square" lIns="0" tIns="0" rIns="0" bIns="0" rtlCol="0" anchor="t"/>
          <a:lstStyle/>
          <a:p>
            <a:pPr algn="ctr" indent="0" marL="0">
              <a:buNone/>
            </a:pPr>
            <a:r>
              <a:rPr lang="en-US" sz="1000" b="1" spc="140" kern="0" dirty="0">
                <a:solidFill>
                  <a:srgbClr val="12447F"/>
                </a:solidFill>
                <a:latin typeface="Verdana" pitchFamily="34" charset="0"/>
                <a:ea typeface="Verdana" pitchFamily="34" charset="-122"/>
                <a:cs typeface="Verdana" pitchFamily="34" charset="-120"/>
              </a:rPr>
              <a:t>CONVERSION AGENT</a:t>
            </a:r>
            <a:endParaRPr lang="en-US" sz="1000" dirty="0"/>
          </a:p>
        </p:txBody>
      </p:sp>
      <p:sp>
        <p:nvSpPr>
          <p:cNvPr id="25" name="Text 23"/>
          <p:cNvSpPr txBox="1"/>
          <p:nvPr/>
        </p:nvSpPr>
        <p:spPr>
          <a:xfrm>
            <a:off x="3017520" y="1865376"/>
            <a:ext cx="1463040" cy="201168"/>
          </a:xfrm>
          <a:prstGeom prst="rect">
            <a:avLst/>
          </a:prstGeom>
          <a:noFill/>
          <a:ln/>
        </p:spPr>
        <p:txBody>
          <a:bodyPr wrap="square" lIns="0" tIns="0" rIns="0" bIns="0" rtlCol="0" anchor="t"/>
          <a:lstStyle/>
          <a:p>
            <a:pPr indent="0" marL="0">
              <a:buNone/>
            </a:pPr>
            <a:r>
              <a:rPr lang="en-US" sz="800" b="1" spc="120" kern="0" dirty="0">
                <a:solidFill>
                  <a:srgbClr val="12447F"/>
                </a:solidFill>
                <a:latin typeface="Verdana" pitchFamily="34" charset="0"/>
                <a:ea typeface="Verdana" pitchFamily="34" charset="-122"/>
                <a:cs typeface="Verdana" pitchFamily="34" charset="-120"/>
              </a:rPr>
              <a:t>INGEST</a:t>
            </a:r>
            <a:endParaRPr lang="en-US" sz="800" dirty="0"/>
          </a:p>
        </p:txBody>
      </p:sp>
      <p:sp>
        <p:nvSpPr>
          <p:cNvPr id="26" name="Shape 24"/>
          <p:cNvSpPr/>
          <p:nvPr/>
        </p:nvSpPr>
        <p:spPr>
          <a:xfrm>
            <a:off x="3182112" y="2084832"/>
            <a:ext cx="1883664" cy="804672"/>
          </a:xfrm>
          <a:prstGeom prst="roundRect">
            <a:avLst>
              <a:gd name="adj" fmla="val 5682"/>
            </a:avLst>
          </a:prstGeom>
          <a:solidFill>
            <a:srgbClr val="FFFFFF"/>
          </a:solidFill>
          <a:ln w="15875">
            <a:solidFill>
              <a:srgbClr val="1A5FB4"/>
            </a:solidFill>
            <a:prstDash val="solid"/>
          </a:ln>
        </p:spPr>
      </p:sp>
      <p:sp>
        <p:nvSpPr>
          <p:cNvPr id="27" name="Text 25"/>
          <p:cNvSpPr txBox="1"/>
          <p:nvPr/>
        </p:nvSpPr>
        <p:spPr>
          <a:xfrm>
            <a:off x="3273552" y="2221992"/>
            <a:ext cx="1700784" cy="402336"/>
          </a:xfrm>
          <a:prstGeom prst="rect">
            <a:avLst/>
          </a:prstGeom>
          <a:noFill/>
          <a:ln/>
        </p:spPr>
        <p:txBody>
          <a:bodyPr wrap="square" lIns="0" tIns="0" rIns="0" bIns="0" rtlCol="0" anchor="t"/>
          <a:lstStyle/>
          <a:p>
            <a:pPr algn="ctr" indent="0" marL="0">
              <a:buNone/>
            </a:pPr>
            <a:r>
              <a:rPr lang="en-US" sz="850" b="1" dirty="0">
                <a:solidFill>
                  <a:srgbClr val="1A5FB4"/>
                </a:solidFill>
                <a:latin typeface="Verdana" pitchFamily="34" charset="0"/>
                <a:ea typeface="Verdana" pitchFamily="34" charset="-122"/>
                <a:cs typeface="Verdana" pitchFamily="34" charset="-120"/>
              </a:rPr>
              <a:t>ASSET PARSER</a:t>
            </a:r>
            <a:endParaRPr lang="en-US" sz="850" dirty="0"/>
          </a:p>
        </p:txBody>
      </p:sp>
      <p:sp>
        <p:nvSpPr>
          <p:cNvPr id="28" name="Text 26"/>
          <p:cNvSpPr txBox="1"/>
          <p:nvPr/>
        </p:nvSpPr>
        <p:spPr>
          <a:xfrm>
            <a:off x="3273552" y="2414016"/>
            <a:ext cx="1700784" cy="402336"/>
          </a:xfrm>
          <a:prstGeom prst="rect">
            <a:avLst/>
          </a:prstGeom>
          <a:noFill/>
          <a:ln/>
        </p:spPr>
        <p:txBody>
          <a:bodyPr wrap="square" lIns="0" tIns="0" rIns="0" bIns="0" rtlCol="0" anchor="t"/>
          <a:lstStyle/>
          <a:p>
            <a:pPr algn="ctr" indent="0" marL="0">
              <a:lnSpc>
                <a:spcPts val="1150"/>
              </a:lnSpc>
              <a:buNone/>
            </a:pPr>
            <a:r>
              <a:rPr lang="en-US" sz="700" dirty="0">
                <a:solidFill>
                  <a:srgbClr val="000000"/>
                </a:solidFill>
                <a:latin typeface="Verdana" pitchFamily="34" charset="0"/>
                <a:ea typeface="Verdana" pitchFamily="34" charset="-122"/>
                <a:cs typeface="Verdana" pitchFamily="34" charset="-120"/>
              </a:rPr>
              <a:t>modules, steps, objects, assertions</a:t>
            </a:r>
            <a:endParaRPr lang="en-US" sz="700" dirty="0"/>
          </a:p>
        </p:txBody>
      </p:sp>
      <p:sp>
        <p:nvSpPr>
          <p:cNvPr id="29" name="Shape 27"/>
          <p:cNvSpPr/>
          <p:nvPr/>
        </p:nvSpPr>
        <p:spPr>
          <a:xfrm>
            <a:off x="5266944" y="2084832"/>
            <a:ext cx="1883664" cy="804672"/>
          </a:xfrm>
          <a:prstGeom prst="roundRect">
            <a:avLst>
              <a:gd name="adj" fmla="val 5682"/>
            </a:avLst>
          </a:prstGeom>
          <a:solidFill>
            <a:srgbClr val="FFFFFF"/>
          </a:solidFill>
          <a:ln w="15875">
            <a:solidFill>
              <a:srgbClr val="1A5FB4"/>
            </a:solidFill>
            <a:prstDash val="solid"/>
          </a:ln>
        </p:spPr>
      </p:sp>
      <p:sp>
        <p:nvSpPr>
          <p:cNvPr id="30" name="Text 28"/>
          <p:cNvSpPr txBox="1"/>
          <p:nvPr/>
        </p:nvSpPr>
        <p:spPr>
          <a:xfrm>
            <a:off x="5358384" y="2221992"/>
            <a:ext cx="1700784" cy="402336"/>
          </a:xfrm>
          <a:prstGeom prst="rect">
            <a:avLst/>
          </a:prstGeom>
          <a:noFill/>
          <a:ln/>
        </p:spPr>
        <p:txBody>
          <a:bodyPr wrap="square" lIns="0" tIns="0" rIns="0" bIns="0" rtlCol="0" anchor="t"/>
          <a:lstStyle/>
          <a:p>
            <a:pPr algn="ctr" indent="0" marL="0">
              <a:buNone/>
            </a:pPr>
            <a:r>
              <a:rPr lang="en-US" sz="850" b="1" dirty="0">
                <a:solidFill>
                  <a:srgbClr val="1A5FB4"/>
                </a:solidFill>
                <a:latin typeface="Verdana" pitchFamily="34" charset="0"/>
                <a:ea typeface="Verdana" pitchFamily="34" charset="-122"/>
                <a:cs typeface="Verdana" pitchFamily="34" charset="-120"/>
              </a:rPr>
              <a:t>CASE PARSER</a:t>
            </a:r>
            <a:endParaRPr lang="en-US" sz="850" dirty="0"/>
          </a:p>
        </p:txBody>
      </p:sp>
      <p:sp>
        <p:nvSpPr>
          <p:cNvPr id="31" name="Text 29"/>
          <p:cNvSpPr txBox="1"/>
          <p:nvPr/>
        </p:nvSpPr>
        <p:spPr>
          <a:xfrm>
            <a:off x="5358384" y="2414016"/>
            <a:ext cx="1700784" cy="402336"/>
          </a:xfrm>
          <a:prstGeom prst="rect">
            <a:avLst/>
          </a:prstGeom>
          <a:noFill/>
          <a:ln/>
        </p:spPr>
        <p:txBody>
          <a:bodyPr wrap="square" lIns="0" tIns="0" rIns="0" bIns="0" rtlCol="0" anchor="t"/>
          <a:lstStyle/>
          <a:p>
            <a:pPr algn="ctr" indent="0" marL="0">
              <a:lnSpc>
                <a:spcPts val="1150"/>
              </a:lnSpc>
              <a:buNone/>
            </a:pPr>
            <a:r>
              <a:rPr lang="en-US" sz="700" dirty="0">
                <a:solidFill>
                  <a:srgbClr val="000000"/>
                </a:solidFill>
                <a:latin typeface="Verdana" pitchFamily="34" charset="0"/>
                <a:ea typeface="Verdana" pitchFamily="34" charset="-122"/>
                <a:cs typeface="Verdana" pitchFamily="34" charset="-120"/>
              </a:rPr>
              <a:t>manual cases and their preconditions</a:t>
            </a:r>
            <a:endParaRPr lang="en-US" sz="700" dirty="0"/>
          </a:p>
        </p:txBody>
      </p:sp>
      <p:sp>
        <p:nvSpPr>
          <p:cNvPr id="32" name="Shape 30"/>
          <p:cNvSpPr/>
          <p:nvPr/>
        </p:nvSpPr>
        <p:spPr>
          <a:xfrm>
            <a:off x="7351776" y="2084832"/>
            <a:ext cx="1883664" cy="804672"/>
          </a:xfrm>
          <a:prstGeom prst="roundRect">
            <a:avLst>
              <a:gd name="adj" fmla="val 5682"/>
            </a:avLst>
          </a:prstGeom>
          <a:solidFill>
            <a:srgbClr val="FFFFFF"/>
          </a:solidFill>
          <a:ln w="15875">
            <a:solidFill>
              <a:srgbClr val="1A5FB4"/>
            </a:solidFill>
            <a:prstDash val="solid"/>
          </a:ln>
        </p:spPr>
      </p:sp>
      <p:sp>
        <p:nvSpPr>
          <p:cNvPr id="33" name="Text 31"/>
          <p:cNvSpPr txBox="1"/>
          <p:nvPr/>
        </p:nvSpPr>
        <p:spPr>
          <a:xfrm>
            <a:off x="7443216" y="2221992"/>
            <a:ext cx="1700784" cy="402336"/>
          </a:xfrm>
          <a:prstGeom prst="rect">
            <a:avLst/>
          </a:prstGeom>
          <a:noFill/>
          <a:ln/>
        </p:spPr>
        <p:txBody>
          <a:bodyPr wrap="square" lIns="0" tIns="0" rIns="0" bIns="0" rtlCol="0" anchor="t"/>
          <a:lstStyle/>
          <a:p>
            <a:pPr algn="ctr" indent="0" marL="0">
              <a:buNone/>
            </a:pPr>
            <a:r>
              <a:rPr lang="en-US" sz="850" b="1" dirty="0">
                <a:solidFill>
                  <a:srgbClr val="1A5FB4"/>
                </a:solidFill>
                <a:latin typeface="Verdana" pitchFamily="34" charset="0"/>
                <a:ea typeface="Verdana" pitchFamily="34" charset="-122"/>
                <a:cs typeface="Verdana" pitchFamily="34" charset="-120"/>
              </a:rPr>
              <a:t>DATA PROFILER</a:t>
            </a:r>
            <a:endParaRPr lang="en-US" sz="850" dirty="0"/>
          </a:p>
        </p:txBody>
      </p:sp>
      <p:sp>
        <p:nvSpPr>
          <p:cNvPr id="34" name="Text 32"/>
          <p:cNvSpPr txBox="1"/>
          <p:nvPr/>
        </p:nvSpPr>
        <p:spPr>
          <a:xfrm>
            <a:off x="7443216" y="2414016"/>
            <a:ext cx="1700784" cy="402336"/>
          </a:xfrm>
          <a:prstGeom prst="rect">
            <a:avLst/>
          </a:prstGeom>
          <a:noFill/>
          <a:ln/>
        </p:spPr>
        <p:txBody>
          <a:bodyPr wrap="square" lIns="0" tIns="0" rIns="0" bIns="0" rtlCol="0" anchor="t"/>
          <a:lstStyle/>
          <a:p>
            <a:pPr algn="ctr" indent="0" marL="0">
              <a:lnSpc>
                <a:spcPts val="1150"/>
              </a:lnSpc>
              <a:buNone/>
            </a:pPr>
            <a:r>
              <a:rPr lang="en-US" sz="700" dirty="0">
                <a:solidFill>
                  <a:srgbClr val="000000"/>
                </a:solidFill>
                <a:latin typeface="Verdana" pitchFamily="34" charset="0"/>
                <a:ea typeface="Verdana" pitchFamily="34" charset="-122"/>
                <a:cs typeface="Verdana" pitchFamily="34" charset="-120"/>
              </a:rPr>
              <a:t>fixtures and record dependencies</a:t>
            </a:r>
            <a:endParaRPr lang="en-US" sz="700" dirty="0"/>
          </a:p>
        </p:txBody>
      </p:sp>
      <p:sp>
        <p:nvSpPr>
          <p:cNvPr id="35" name="Text 33"/>
          <p:cNvSpPr txBox="1"/>
          <p:nvPr/>
        </p:nvSpPr>
        <p:spPr>
          <a:xfrm>
            <a:off x="3017520" y="2999232"/>
            <a:ext cx="1463040" cy="201168"/>
          </a:xfrm>
          <a:prstGeom prst="rect">
            <a:avLst/>
          </a:prstGeom>
          <a:noFill/>
          <a:ln/>
        </p:spPr>
        <p:txBody>
          <a:bodyPr wrap="square" lIns="0" tIns="0" rIns="0" bIns="0" rtlCol="0" anchor="t"/>
          <a:lstStyle/>
          <a:p>
            <a:pPr indent="0" marL="0">
              <a:buNone/>
            </a:pPr>
            <a:r>
              <a:rPr lang="en-US" sz="800" b="1" spc="120" kern="0" dirty="0">
                <a:solidFill>
                  <a:srgbClr val="12447F"/>
                </a:solidFill>
                <a:latin typeface="Verdana" pitchFamily="34" charset="0"/>
                <a:ea typeface="Verdana" pitchFamily="34" charset="-122"/>
                <a:cs typeface="Verdana" pitchFamily="34" charset="-120"/>
              </a:rPr>
              <a:t>RECONSTRUCT</a:t>
            </a:r>
            <a:endParaRPr lang="en-US" sz="800" dirty="0"/>
          </a:p>
        </p:txBody>
      </p:sp>
      <p:sp>
        <p:nvSpPr>
          <p:cNvPr id="36" name="Shape 34"/>
          <p:cNvSpPr/>
          <p:nvPr/>
        </p:nvSpPr>
        <p:spPr>
          <a:xfrm>
            <a:off x="3182112" y="3218688"/>
            <a:ext cx="1883664" cy="804672"/>
          </a:xfrm>
          <a:prstGeom prst="roundRect">
            <a:avLst>
              <a:gd name="adj" fmla="val 5682"/>
            </a:avLst>
          </a:prstGeom>
          <a:solidFill>
            <a:srgbClr val="FFFFFF"/>
          </a:solidFill>
          <a:ln w="15875">
            <a:solidFill>
              <a:srgbClr val="1A5FB4"/>
            </a:solidFill>
            <a:prstDash val="solid"/>
          </a:ln>
        </p:spPr>
      </p:sp>
      <p:sp>
        <p:nvSpPr>
          <p:cNvPr id="37" name="Text 35"/>
          <p:cNvSpPr txBox="1"/>
          <p:nvPr/>
        </p:nvSpPr>
        <p:spPr>
          <a:xfrm>
            <a:off x="3273552" y="3355848"/>
            <a:ext cx="1700784" cy="402336"/>
          </a:xfrm>
          <a:prstGeom prst="rect">
            <a:avLst/>
          </a:prstGeom>
          <a:noFill/>
          <a:ln/>
        </p:spPr>
        <p:txBody>
          <a:bodyPr wrap="square" lIns="0" tIns="0" rIns="0" bIns="0" rtlCol="0" anchor="t"/>
          <a:lstStyle/>
          <a:p>
            <a:pPr algn="ctr" indent="0" marL="0">
              <a:buNone/>
            </a:pPr>
            <a:r>
              <a:rPr lang="en-US" sz="850" b="1" dirty="0">
                <a:solidFill>
                  <a:srgbClr val="1A5FB4"/>
                </a:solidFill>
                <a:latin typeface="Verdana" pitchFamily="34" charset="0"/>
                <a:ea typeface="Verdana" pitchFamily="34" charset="-122"/>
                <a:cs typeface="Verdana" pitchFamily="34" charset="-120"/>
              </a:rPr>
              <a:t>INTENT RECONSTRUCTOR</a:t>
            </a:r>
            <a:endParaRPr lang="en-US" sz="850" dirty="0"/>
          </a:p>
        </p:txBody>
      </p:sp>
      <p:sp>
        <p:nvSpPr>
          <p:cNvPr id="38" name="Text 36"/>
          <p:cNvSpPr txBox="1"/>
          <p:nvPr/>
        </p:nvSpPr>
        <p:spPr>
          <a:xfrm>
            <a:off x="3273552" y="3547872"/>
            <a:ext cx="1700784" cy="402336"/>
          </a:xfrm>
          <a:prstGeom prst="rect">
            <a:avLst/>
          </a:prstGeom>
          <a:noFill/>
          <a:ln/>
        </p:spPr>
        <p:txBody>
          <a:bodyPr wrap="square" lIns="0" tIns="0" rIns="0" bIns="0" rtlCol="0" anchor="t"/>
          <a:lstStyle/>
          <a:p>
            <a:pPr algn="ctr" indent="0" marL="0">
              <a:lnSpc>
                <a:spcPts val="1150"/>
              </a:lnSpc>
              <a:buNone/>
            </a:pPr>
            <a:r>
              <a:rPr lang="en-US" sz="700" dirty="0">
                <a:solidFill>
                  <a:srgbClr val="000000"/>
                </a:solidFill>
                <a:latin typeface="Verdana" pitchFamily="34" charset="0"/>
                <a:ea typeface="Verdana" pitchFamily="34" charset="-122"/>
                <a:cs typeface="Verdana" pitchFamily="34" charset="-120"/>
              </a:rPr>
              <a:t>what each test establishes</a:t>
            </a:r>
            <a:endParaRPr lang="en-US" sz="700" dirty="0"/>
          </a:p>
        </p:txBody>
      </p:sp>
      <p:sp>
        <p:nvSpPr>
          <p:cNvPr id="39" name="Shape 37"/>
          <p:cNvSpPr/>
          <p:nvPr/>
        </p:nvSpPr>
        <p:spPr>
          <a:xfrm>
            <a:off x="5266944" y="3218688"/>
            <a:ext cx="1883664" cy="804672"/>
          </a:xfrm>
          <a:prstGeom prst="roundRect">
            <a:avLst>
              <a:gd name="adj" fmla="val 5682"/>
            </a:avLst>
          </a:prstGeom>
          <a:solidFill>
            <a:srgbClr val="DFF2F0"/>
          </a:solidFill>
          <a:ln w="15875">
            <a:solidFill>
              <a:srgbClr val="17A398"/>
            </a:solidFill>
            <a:prstDash val="solid"/>
          </a:ln>
        </p:spPr>
      </p:sp>
      <p:sp>
        <p:nvSpPr>
          <p:cNvPr id="40" name="Text 38"/>
          <p:cNvSpPr txBox="1"/>
          <p:nvPr/>
        </p:nvSpPr>
        <p:spPr>
          <a:xfrm>
            <a:off x="5358384" y="3355848"/>
            <a:ext cx="1700784" cy="402336"/>
          </a:xfrm>
          <a:prstGeom prst="rect">
            <a:avLst/>
          </a:prstGeom>
          <a:noFill/>
          <a:ln/>
        </p:spPr>
        <p:txBody>
          <a:bodyPr wrap="square" lIns="0" tIns="0" rIns="0" bIns="0" rtlCol="0" anchor="t"/>
          <a:lstStyle/>
          <a:p>
            <a:pPr algn="ctr" indent="0" marL="0">
              <a:buNone/>
            </a:pPr>
            <a:r>
              <a:rPr lang="en-US" sz="850" b="1" dirty="0">
                <a:solidFill>
                  <a:srgbClr val="0B6B63"/>
                </a:solidFill>
                <a:latin typeface="Verdana" pitchFamily="34" charset="0"/>
                <a:ea typeface="Verdana" pitchFamily="34" charset="-122"/>
                <a:cs typeface="Verdana" pitchFamily="34" charset="-120"/>
              </a:rPr>
              <a:t>CROSS-SOURCE RECONCILER</a:t>
            </a:r>
            <a:endParaRPr lang="en-US" sz="850" dirty="0"/>
          </a:p>
        </p:txBody>
      </p:sp>
      <p:sp>
        <p:nvSpPr>
          <p:cNvPr id="41" name="Text 39"/>
          <p:cNvSpPr txBox="1"/>
          <p:nvPr/>
        </p:nvSpPr>
        <p:spPr>
          <a:xfrm>
            <a:off x="5358384" y="3547872"/>
            <a:ext cx="1700784" cy="402336"/>
          </a:xfrm>
          <a:prstGeom prst="rect">
            <a:avLst/>
          </a:prstGeom>
          <a:noFill/>
          <a:ln/>
        </p:spPr>
        <p:txBody>
          <a:bodyPr wrap="square" lIns="0" tIns="0" rIns="0" bIns="0" rtlCol="0" anchor="t"/>
          <a:lstStyle/>
          <a:p>
            <a:pPr algn="ctr" indent="0" marL="0">
              <a:lnSpc>
                <a:spcPts val="1150"/>
              </a:lnSpc>
              <a:buNone/>
            </a:pPr>
            <a:r>
              <a:rPr lang="en-US" sz="700" dirty="0">
                <a:solidFill>
                  <a:srgbClr val="000000"/>
                </a:solidFill>
                <a:latin typeface="Verdana" pitchFamily="34" charset="0"/>
                <a:ea typeface="Verdana" pitchFamily="34" charset="-122"/>
                <a:cs typeface="Verdana" pitchFamily="34" charset="-120"/>
              </a:rPr>
              <a:t>script measured against written case</a:t>
            </a:r>
            <a:endParaRPr lang="en-US" sz="700" dirty="0"/>
          </a:p>
        </p:txBody>
      </p:sp>
      <p:sp>
        <p:nvSpPr>
          <p:cNvPr id="42" name="Shape 40"/>
          <p:cNvSpPr/>
          <p:nvPr/>
        </p:nvSpPr>
        <p:spPr>
          <a:xfrm>
            <a:off x="7351776" y="3218688"/>
            <a:ext cx="1883664" cy="804672"/>
          </a:xfrm>
          <a:prstGeom prst="roundRect">
            <a:avLst>
              <a:gd name="adj" fmla="val 5682"/>
            </a:avLst>
          </a:prstGeom>
          <a:solidFill>
            <a:srgbClr val="DFF2F0"/>
          </a:solidFill>
          <a:ln w="15875">
            <a:solidFill>
              <a:srgbClr val="17A398"/>
            </a:solidFill>
            <a:prstDash val="solid"/>
          </a:ln>
        </p:spPr>
      </p:sp>
      <p:sp>
        <p:nvSpPr>
          <p:cNvPr id="43" name="Text 41"/>
          <p:cNvSpPr txBox="1"/>
          <p:nvPr/>
        </p:nvSpPr>
        <p:spPr>
          <a:xfrm>
            <a:off x="7443216" y="3355848"/>
            <a:ext cx="1700784" cy="402336"/>
          </a:xfrm>
          <a:prstGeom prst="rect">
            <a:avLst/>
          </a:prstGeom>
          <a:noFill/>
          <a:ln/>
        </p:spPr>
        <p:txBody>
          <a:bodyPr wrap="square" lIns="0" tIns="0" rIns="0" bIns="0" rtlCol="0" anchor="t"/>
          <a:lstStyle/>
          <a:p>
            <a:pPr algn="ctr" indent="0" marL="0">
              <a:buNone/>
            </a:pPr>
            <a:r>
              <a:rPr lang="en-US" sz="850" b="1" dirty="0">
                <a:solidFill>
                  <a:srgbClr val="0B6B63"/>
                </a:solidFill>
                <a:latin typeface="Verdana" pitchFamily="34" charset="0"/>
                <a:ea typeface="Verdana" pitchFamily="34" charset="-122"/>
                <a:cs typeface="Verdana" pitchFamily="34" charset="-120"/>
              </a:rPr>
              <a:t>GAP REGISTER</a:t>
            </a:r>
            <a:endParaRPr lang="en-US" sz="850" dirty="0"/>
          </a:p>
        </p:txBody>
      </p:sp>
      <p:sp>
        <p:nvSpPr>
          <p:cNvPr id="44" name="Text 42"/>
          <p:cNvSpPr txBox="1"/>
          <p:nvPr/>
        </p:nvSpPr>
        <p:spPr>
          <a:xfrm>
            <a:off x="7443216" y="3547872"/>
            <a:ext cx="1700784" cy="402336"/>
          </a:xfrm>
          <a:prstGeom prst="rect">
            <a:avLst/>
          </a:prstGeom>
          <a:noFill/>
          <a:ln/>
        </p:spPr>
        <p:txBody>
          <a:bodyPr wrap="square" lIns="0" tIns="0" rIns="0" bIns="0" rtlCol="0" anchor="t"/>
          <a:lstStyle/>
          <a:p>
            <a:pPr algn="ctr" indent="0" marL="0">
              <a:lnSpc>
                <a:spcPts val="1150"/>
              </a:lnSpc>
              <a:buNone/>
            </a:pPr>
            <a:r>
              <a:rPr lang="en-US" sz="700" dirty="0">
                <a:solidFill>
                  <a:srgbClr val="000000"/>
                </a:solidFill>
                <a:latin typeface="Verdana" pitchFamily="34" charset="0"/>
                <a:ea typeface="Verdana" pitchFamily="34" charset="-122"/>
                <a:cs typeface="Verdana" pitchFamily="34" charset="-120"/>
              </a:rPr>
              <a:t>steps and checks absent from the script</a:t>
            </a:r>
            <a:endParaRPr lang="en-US" sz="700" dirty="0"/>
          </a:p>
        </p:txBody>
      </p:sp>
      <p:sp>
        <p:nvSpPr>
          <p:cNvPr id="45" name="Text 43"/>
          <p:cNvSpPr txBox="1"/>
          <p:nvPr/>
        </p:nvSpPr>
        <p:spPr>
          <a:xfrm>
            <a:off x="3017520" y="4133088"/>
            <a:ext cx="1463040" cy="201168"/>
          </a:xfrm>
          <a:prstGeom prst="rect">
            <a:avLst/>
          </a:prstGeom>
          <a:noFill/>
          <a:ln/>
        </p:spPr>
        <p:txBody>
          <a:bodyPr wrap="square" lIns="0" tIns="0" rIns="0" bIns="0" rtlCol="0" anchor="t"/>
          <a:lstStyle/>
          <a:p>
            <a:pPr indent="0" marL="0">
              <a:buNone/>
            </a:pPr>
            <a:r>
              <a:rPr lang="en-US" sz="800" b="1" spc="120" kern="0" dirty="0">
                <a:solidFill>
                  <a:srgbClr val="12447F"/>
                </a:solidFill>
                <a:latin typeface="Verdana" pitchFamily="34" charset="0"/>
                <a:ea typeface="Verdana" pitchFamily="34" charset="-122"/>
                <a:cs typeface="Verdana" pitchFamily="34" charset="-120"/>
              </a:rPr>
              <a:t>PRODUCE</a:t>
            </a:r>
            <a:endParaRPr lang="en-US" sz="800" dirty="0"/>
          </a:p>
        </p:txBody>
      </p:sp>
      <p:sp>
        <p:nvSpPr>
          <p:cNvPr id="46" name="Shape 44"/>
          <p:cNvSpPr/>
          <p:nvPr/>
        </p:nvSpPr>
        <p:spPr>
          <a:xfrm>
            <a:off x="3182112" y="4352544"/>
            <a:ext cx="1883664" cy="804672"/>
          </a:xfrm>
          <a:prstGeom prst="roundRect">
            <a:avLst>
              <a:gd name="adj" fmla="val 5682"/>
            </a:avLst>
          </a:prstGeom>
          <a:solidFill>
            <a:srgbClr val="FFFFFF"/>
          </a:solidFill>
          <a:ln w="15875">
            <a:solidFill>
              <a:srgbClr val="1A5FB4"/>
            </a:solidFill>
            <a:prstDash val="solid"/>
          </a:ln>
        </p:spPr>
      </p:sp>
      <p:sp>
        <p:nvSpPr>
          <p:cNvPr id="47" name="Text 45"/>
          <p:cNvSpPr txBox="1"/>
          <p:nvPr/>
        </p:nvSpPr>
        <p:spPr>
          <a:xfrm>
            <a:off x="3273552" y="4489704"/>
            <a:ext cx="1700784" cy="402336"/>
          </a:xfrm>
          <a:prstGeom prst="rect">
            <a:avLst/>
          </a:prstGeom>
          <a:noFill/>
          <a:ln/>
        </p:spPr>
        <p:txBody>
          <a:bodyPr wrap="square" lIns="0" tIns="0" rIns="0" bIns="0" rtlCol="0" anchor="t"/>
          <a:lstStyle/>
          <a:p>
            <a:pPr algn="ctr" indent="0" marL="0">
              <a:buNone/>
            </a:pPr>
            <a:r>
              <a:rPr lang="en-US" sz="850" b="1" dirty="0">
                <a:solidFill>
                  <a:srgbClr val="1A5FB4"/>
                </a:solidFill>
                <a:latin typeface="Verdana" pitchFamily="34" charset="0"/>
                <a:ea typeface="Verdana" pitchFamily="34" charset="-122"/>
                <a:cs typeface="Verdana" pitchFamily="34" charset="-120"/>
              </a:rPr>
              <a:t>TARGET GENERATOR</a:t>
            </a:r>
            <a:endParaRPr lang="en-US" sz="850" dirty="0"/>
          </a:p>
        </p:txBody>
      </p:sp>
      <p:sp>
        <p:nvSpPr>
          <p:cNvPr id="48" name="Text 46"/>
          <p:cNvSpPr txBox="1"/>
          <p:nvPr/>
        </p:nvSpPr>
        <p:spPr>
          <a:xfrm>
            <a:off x="3273552" y="4681728"/>
            <a:ext cx="1700784" cy="402336"/>
          </a:xfrm>
          <a:prstGeom prst="rect">
            <a:avLst/>
          </a:prstGeom>
          <a:noFill/>
          <a:ln/>
        </p:spPr>
        <p:txBody>
          <a:bodyPr wrap="square" lIns="0" tIns="0" rIns="0" bIns="0" rtlCol="0" anchor="t"/>
          <a:lstStyle/>
          <a:p>
            <a:pPr algn="ctr" indent="0" marL="0">
              <a:lnSpc>
                <a:spcPts val="1150"/>
              </a:lnSpc>
              <a:buNone/>
            </a:pPr>
            <a:r>
              <a:rPr lang="en-US" sz="700" dirty="0">
                <a:solidFill>
                  <a:srgbClr val="000000"/>
                </a:solidFill>
                <a:latin typeface="Verdana" pitchFamily="34" charset="0"/>
                <a:ea typeface="Verdana" pitchFamily="34" charset="-122"/>
                <a:cs typeface="Verdana" pitchFamily="34" charset="-120"/>
              </a:rPr>
              <a:t>Selenium or Playwright, idiomatic</a:t>
            </a:r>
            <a:endParaRPr lang="en-US" sz="700" dirty="0"/>
          </a:p>
        </p:txBody>
      </p:sp>
      <p:sp>
        <p:nvSpPr>
          <p:cNvPr id="49" name="Shape 47"/>
          <p:cNvSpPr/>
          <p:nvPr/>
        </p:nvSpPr>
        <p:spPr>
          <a:xfrm>
            <a:off x="5266944" y="4352544"/>
            <a:ext cx="1883664" cy="804672"/>
          </a:xfrm>
          <a:prstGeom prst="roundRect">
            <a:avLst>
              <a:gd name="adj" fmla="val 5682"/>
            </a:avLst>
          </a:prstGeom>
          <a:solidFill>
            <a:srgbClr val="FFFFFF"/>
          </a:solidFill>
          <a:ln w="15875">
            <a:solidFill>
              <a:srgbClr val="1A5FB4"/>
            </a:solidFill>
            <a:prstDash val="solid"/>
          </a:ln>
        </p:spPr>
      </p:sp>
      <p:sp>
        <p:nvSpPr>
          <p:cNvPr id="50" name="Text 48"/>
          <p:cNvSpPr txBox="1"/>
          <p:nvPr/>
        </p:nvSpPr>
        <p:spPr>
          <a:xfrm>
            <a:off x="5358384" y="4489704"/>
            <a:ext cx="1700784" cy="402336"/>
          </a:xfrm>
          <a:prstGeom prst="rect">
            <a:avLst/>
          </a:prstGeom>
          <a:noFill/>
          <a:ln/>
        </p:spPr>
        <p:txBody>
          <a:bodyPr wrap="square" lIns="0" tIns="0" rIns="0" bIns="0" rtlCol="0" anchor="t"/>
          <a:lstStyle/>
          <a:p>
            <a:pPr algn="ctr" indent="0" marL="0">
              <a:buNone/>
            </a:pPr>
            <a:r>
              <a:rPr lang="en-US" sz="850" b="1" dirty="0">
                <a:solidFill>
                  <a:srgbClr val="1A5FB4"/>
                </a:solidFill>
                <a:latin typeface="Verdana" pitchFamily="34" charset="0"/>
                <a:ea typeface="Verdana" pitchFamily="34" charset="-122"/>
                <a:cs typeface="Verdana" pitchFamily="34" charset="-120"/>
              </a:rPr>
              <a:t>DATA CONTRACT ENGINE</a:t>
            </a:r>
            <a:endParaRPr lang="en-US" sz="850" dirty="0"/>
          </a:p>
        </p:txBody>
      </p:sp>
      <p:sp>
        <p:nvSpPr>
          <p:cNvPr id="51" name="Text 49"/>
          <p:cNvSpPr txBox="1"/>
          <p:nvPr/>
        </p:nvSpPr>
        <p:spPr>
          <a:xfrm>
            <a:off x="5358384" y="4681728"/>
            <a:ext cx="1700784" cy="402336"/>
          </a:xfrm>
          <a:prstGeom prst="rect">
            <a:avLst/>
          </a:prstGeom>
          <a:noFill/>
          <a:ln/>
        </p:spPr>
        <p:txBody>
          <a:bodyPr wrap="square" lIns="0" tIns="0" rIns="0" bIns="0" rtlCol="0" anchor="t"/>
          <a:lstStyle/>
          <a:p>
            <a:pPr algn="ctr" indent="0" marL="0">
              <a:lnSpc>
                <a:spcPts val="1150"/>
              </a:lnSpc>
              <a:buNone/>
            </a:pPr>
            <a:r>
              <a:rPr lang="en-US" sz="700" dirty="0">
                <a:solidFill>
                  <a:srgbClr val="000000"/>
                </a:solidFill>
                <a:latin typeface="Verdana" pitchFamily="34" charset="0"/>
                <a:ea typeface="Verdana" pitchFamily="34" charset="-122"/>
                <a:cs typeface="Verdana" pitchFamily="34" charset="-120"/>
              </a:rPr>
              <a:t>required state, resolved at run time</a:t>
            </a:r>
            <a:endParaRPr lang="en-US" sz="700" dirty="0"/>
          </a:p>
        </p:txBody>
      </p:sp>
      <p:sp>
        <p:nvSpPr>
          <p:cNvPr id="52" name="Shape 50"/>
          <p:cNvSpPr/>
          <p:nvPr/>
        </p:nvSpPr>
        <p:spPr>
          <a:xfrm>
            <a:off x="7351776" y="4352544"/>
            <a:ext cx="1883664" cy="804672"/>
          </a:xfrm>
          <a:prstGeom prst="roundRect">
            <a:avLst>
              <a:gd name="adj" fmla="val 5682"/>
            </a:avLst>
          </a:prstGeom>
          <a:solidFill>
            <a:srgbClr val="FFFFFF"/>
          </a:solidFill>
          <a:ln w="15875">
            <a:solidFill>
              <a:srgbClr val="1A5FB4"/>
            </a:solidFill>
            <a:prstDash val="solid"/>
          </a:ln>
        </p:spPr>
      </p:sp>
      <p:sp>
        <p:nvSpPr>
          <p:cNvPr id="53" name="Text 51"/>
          <p:cNvSpPr txBox="1"/>
          <p:nvPr/>
        </p:nvSpPr>
        <p:spPr>
          <a:xfrm>
            <a:off x="7443216" y="4489704"/>
            <a:ext cx="1700784" cy="402336"/>
          </a:xfrm>
          <a:prstGeom prst="rect">
            <a:avLst/>
          </a:prstGeom>
          <a:noFill/>
          <a:ln/>
        </p:spPr>
        <p:txBody>
          <a:bodyPr wrap="square" lIns="0" tIns="0" rIns="0" bIns="0" rtlCol="0" anchor="t"/>
          <a:lstStyle/>
          <a:p>
            <a:pPr algn="ctr" indent="0" marL="0">
              <a:buNone/>
            </a:pPr>
            <a:r>
              <a:rPr lang="en-US" sz="850" b="1" dirty="0">
                <a:solidFill>
                  <a:srgbClr val="1A5FB4"/>
                </a:solidFill>
                <a:latin typeface="Verdana" pitchFamily="34" charset="0"/>
                <a:ea typeface="Verdana" pitchFamily="34" charset="-122"/>
                <a:cs typeface="Verdana" pitchFamily="34" charset="-120"/>
              </a:rPr>
              <a:t>EQUIVALENCE HARNESS</a:t>
            </a:r>
            <a:endParaRPr lang="en-US" sz="850" dirty="0"/>
          </a:p>
        </p:txBody>
      </p:sp>
      <p:sp>
        <p:nvSpPr>
          <p:cNvPr id="54" name="Text 52"/>
          <p:cNvSpPr txBox="1"/>
          <p:nvPr/>
        </p:nvSpPr>
        <p:spPr>
          <a:xfrm>
            <a:off x="7443216" y="4681728"/>
            <a:ext cx="1700784" cy="402336"/>
          </a:xfrm>
          <a:prstGeom prst="rect">
            <a:avLst/>
          </a:prstGeom>
          <a:noFill/>
          <a:ln/>
        </p:spPr>
        <p:txBody>
          <a:bodyPr wrap="square" lIns="0" tIns="0" rIns="0" bIns="0" rtlCol="0" anchor="t"/>
          <a:lstStyle/>
          <a:p>
            <a:pPr algn="ctr" indent="0" marL="0">
              <a:lnSpc>
                <a:spcPts val="1150"/>
              </a:lnSpc>
              <a:buNone/>
            </a:pPr>
            <a:r>
              <a:rPr lang="en-US" sz="700" dirty="0">
                <a:solidFill>
                  <a:srgbClr val="000000"/>
                </a:solidFill>
                <a:latin typeface="Verdana" pitchFamily="34" charset="0"/>
                <a:ea typeface="Verdana" pitchFamily="34" charset="-122"/>
                <a:cs typeface="Verdana" pitchFamily="34" charset="-120"/>
              </a:rPr>
              <a:t>parallel execution on one build</a:t>
            </a:r>
            <a:endParaRPr lang="en-US" sz="700" dirty="0"/>
          </a:p>
        </p:txBody>
      </p:sp>
      <p:sp>
        <p:nvSpPr>
          <p:cNvPr id="55" name="Shape 53"/>
          <p:cNvSpPr/>
          <p:nvPr/>
        </p:nvSpPr>
        <p:spPr>
          <a:xfrm rot="16200000">
            <a:off x="8997696" y="4059936"/>
            <a:ext cx="201168" cy="274320"/>
          </a:xfrm>
          <a:prstGeom prst="chevron">
            <a:avLst/>
          </a:prstGeom>
          <a:solidFill>
            <a:srgbClr val="17A398"/>
          </a:solidFill>
          <a:ln/>
        </p:spPr>
      </p:sp>
      <p:sp>
        <p:nvSpPr>
          <p:cNvPr id="56" name="Text 54"/>
          <p:cNvSpPr txBox="1"/>
          <p:nvPr/>
        </p:nvSpPr>
        <p:spPr>
          <a:xfrm>
            <a:off x="6766560" y="4078224"/>
            <a:ext cx="2157984" cy="237744"/>
          </a:xfrm>
          <a:prstGeom prst="rect">
            <a:avLst/>
          </a:prstGeom>
          <a:noFill/>
          <a:ln/>
        </p:spPr>
        <p:txBody>
          <a:bodyPr wrap="square" lIns="0" tIns="0" rIns="0" bIns="0" rtlCol="0" anchor="t"/>
          <a:lstStyle/>
          <a:p>
            <a:pPr algn="r" indent="0" marL="0">
              <a:buNone/>
            </a:pPr>
            <a:r>
              <a:rPr lang="en-US" sz="750" b="1" i="1" dirty="0">
                <a:solidFill>
                  <a:srgbClr val="0B6B63"/>
                </a:solidFill>
                <a:latin typeface="Verdana" pitchFamily="34" charset="0"/>
                <a:ea typeface="Verdana" pitchFamily="34" charset="-122"/>
                <a:cs typeface="Verdana" pitchFamily="34" charset="-120"/>
              </a:rPr>
              <a:t>equivalence findings re-open the gap register</a:t>
            </a:r>
            <a:endParaRPr lang="en-US" sz="750" dirty="0"/>
          </a:p>
        </p:txBody>
      </p:sp>
      <p:sp>
        <p:nvSpPr>
          <p:cNvPr id="57" name="Text 55"/>
          <p:cNvSpPr txBox="1"/>
          <p:nvPr/>
        </p:nvSpPr>
        <p:spPr>
          <a:xfrm>
            <a:off x="9656064" y="1591056"/>
            <a:ext cx="2103120" cy="237744"/>
          </a:xfrm>
          <a:prstGeom prst="rect">
            <a:avLst/>
          </a:prstGeom>
          <a:noFill/>
          <a:ln/>
        </p:spPr>
        <p:txBody>
          <a:bodyPr wrap="square" lIns="0" tIns="0" rIns="0" bIns="0" rtlCol="0" anchor="t"/>
          <a:lstStyle/>
          <a:p>
            <a:pPr indent="0" marL="0">
              <a:buNone/>
            </a:pPr>
            <a:r>
              <a:rPr lang="en-US" sz="900" b="1" spc="180" kern="0" dirty="0">
                <a:solidFill>
                  <a:srgbClr val="1A5FB4"/>
                </a:solidFill>
                <a:latin typeface="Verdana" pitchFamily="34" charset="0"/>
                <a:ea typeface="Verdana" pitchFamily="34" charset="-122"/>
                <a:cs typeface="Verdana" pitchFamily="34" charset="-120"/>
              </a:rPr>
              <a:t>OUTPUTS</a:t>
            </a:r>
            <a:endParaRPr lang="en-US" sz="900" dirty="0"/>
          </a:p>
        </p:txBody>
      </p:sp>
      <p:sp>
        <p:nvSpPr>
          <p:cNvPr id="58" name="Shape 56"/>
          <p:cNvSpPr/>
          <p:nvPr/>
        </p:nvSpPr>
        <p:spPr>
          <a:xfrm>
            <a:off x="9326880" y="2359152"/>
            <a:ext cx="182880" cy="256032"/>
          </a:xfrm>
          <a:prstGeom prst="chevron">
            <a:avLst/>
          </a:prstGeom>
          <a:solidFill>
            <a:srgbClr val="1A5FB4"/>
          </a:solidFill>
          <a:ln/>
        </p:spPr>
      </p:sp>
      <p:sp>
        <p:nvSpPr>
          <p:cNvPr id="59" name="Shape 57"/>
          <p:cNvSpPr/>
          <p:nvPr/>
        </p:nvSpPr>
        <p:spPr>
          <a:xfrm>
            <a:off x="9656064" y="2084832"/>
            <a:ext cx="2084832" cy="804672"/>
          </a:xfrm>
          <a:prstGeom prst="roundRect">
            <a:avLst>
              <a:gd name="adj" fmla="val 5682"/>
            </a:avLst>
          </a:prstGeom>
          <a:solidFill>
            <a:srgbClr val="1A5FB4"/>
          </a:solidFill>
          <a:ln w="15875">
            <a:solidFill>
              <a:srgbClr val="12447F"/>
            </a:solidFill>
            <a:prstDash val="solid"/>
          </a:ln>
        </p:spPr>
      </p:sp>
      <p:sp>
        <p:nvSpPr>
          <p:cNvPr id="60" name="Text 58"/>
          <p:cNvSpPr txBox="1"/>
          <p:nvPr/>
        </p:nvSpPr>
        <p:spPr>
          <a:xfrm>
            <a:off x="9747504" y="2221992"/>
            <a:ext cx="1901952" cy="402336"/>
          </a:xfrm>
          <a:prstGeom prst="rect">
            <a:avLst/>
          </a:prstGeom>
          <a:noFill/>
          <a:ln/>
        </p:spPr>
        <p:txBody>
          <a:bodyPr wrap="square" lIns="0" tIns="0" rIns="0" bIns="0" rtlCol="0" anchor="t"/>
          <a:lstStyle/>
          <a:p>
            <a:pPr algn="ctr" indent="0" marL="0">
              <a:buNone/>
            </a:pPr>
            <a:r>
              <a:rPr lang="en-US" sz="900" b="1" dirty="0">
                <a:solidFill>
                  <a:srgbClr val="FFFFFF"/>
                </a:solidFill>
                <a:latin typeface="Verdana" pitchFamily="34" charset="0"/>
                <a:ea typeface="Verdana" pitchFamily="34" charset="-122"/>
                <a:cs typeface="Verdana" pitchFamily="34" charset="-120"/>
              </a:rPr>
              <a:t>INTENT REPOSITORY</a:t>
            </a:r>
            <a:endParaRPr lang="en-US" sz="900" dirty="0"/>
          </a:p>
        </p:txBody>
      </p:sp>
      <p:sp>
        <p:nvSpPr>
          <p:cNvPr id="61" name="Text 59"/>
          <p:cNvSpPr txBox="1"/>
          <p:nvPr/>
        </p:nvSpPr>
        <p:spPr>
          <a:xfrm>
            <a:off x="9747504" y="2414016"/>
            <a:ext cx="1901952" cy="402336"/>
          </a:xfrm>
          <a:prstGeom prst="rect">
            <a:avLst/>
          </a:prstGeom>
          <a:noFill/>
          <a:ln/>
        </p:spPr>
        <p:txBody>
          <a:bodyPr wrap="square" lIns="0" tIns="0" rIns="0" bIns="0" rtlCol="0" anchor="t"/>
          <a:lstStyle/>
          <a:p>
            <a:pPr algn="ctr" indent="0" marL="0">
              <a:lnSpc>
                <a:spcPts val="1150"/>
              </a:lnSpc>
              <a:buNone/>
            </a:pPr>
            <a:r>
              <a:rPr lang="en-US" sz="750" dirty="0">
                <a:solidFill>
                  <a:srgbClr val="FFFFFF"/>
                </a:solidFill>
                <a:latin typeface="Verdana" pitchFamily="34" charset="0"/>
                <a:ea typeface="Verdana" pitchFamily="34" charset="-122"/>
                <a:cs typeface="Verdana" pitchFamily="34" charset="-120"/>
              </a:rPr>
              <a:t>platform-neutral record of verified behaviour</a:t>
            </a:r>
            <a:endParaRPr lang="en-US" sz="750" dirty="0"/>
          </a:p>
        </p:txBody>
      </p:sp>
      <p:sp>
        <p:nvSpPr>
          <p:cNvPr id="62" name="Shape 60"/>
          <p:cNvSpPr/>
          <p:nvPr/>
        </p:nvSpPr>
        <p:spPr>
          <a:xfrm>
            <a:off x="9326880" y="3493008"/>
            <a:ext cx="182880" cy="256032"/>
          </a:xfrm>
          <a:prstGeom prst="chevron">
            <a:avLst/>
          </a:prstGeom>
          <a:solidFill>
            <a:srgbClr val="1A5FB4"/>
          </a:solidFill>
          <a:ln/>
        </p:spPr>
      </p:sp>
      <p:sp>
        <p:nvSpPr>
          <p:cNvPr id="63" name="Shape 61"/>
          <p:cNvSpPr/>
          <p:nvPr/>
        </p:nvSpPr>
        <p:spPr>
          <a:xfrm>
            <a:off x="9656064" y="3218688"/>
            <a:ext cx="2084832" cy="804672"/>
          </a:xfrm>
          <a:prstGeom prst="roundRect">
            <a:avLst>
              <a:gd name="adj" fmla="val 5682"/>
            </a:avLst>
          </a:prstGeom>
          <a:solidFill>
            <a:srgbClr val="FFFFFF"/>
          </a:solidFill>
          <a:ln w="15875">
            <a:solidFill>
              <a:srgbClr val="1A5FB4"/>
            </a:solidFill>
            <a:prstDash val="solid"/>
          </a:ln>
        </p:spPr>
      </p:sp>
      <p:sp>
        <p:nvSpPr>
          <p:cNvPr id="64" name="Text 62"/>
          <p:cNvSpPr txBox="1"/>
          <p:nvPr/>
        </p:nvSpPr>
        <p:spPr>
          <a:xfrm>
            <a:off x="9747504" y="3355848"/>
            <a:ext cx="1901952" cy="402336"/>
          </a:xfrm>
          <a:prstGeom prst="rect">
            <a:avLst/>
          </a:prstGeom>
          <a:noFill/>
          <a:ln/>
        </p:spPr>
        <p:txBody>
          <a:bodyPr wrap="square" lIns="0" tIns="0" rIns="0" bIns="0" rtlCol="0" anchor="t"/>
          <a:lstStyle/>
          <a:p>
            <a:pPr algn="ctr" indent="0" marL="0">
              <a:buNone/>
            </a:pPr>
            <a:r>
              <a:rPr lang="en-US" sz="900" b="1" dirty="0">
                <a:solidFill>
                  <a:srgbClr val="1A5FB4"/>
                </a:solidFill>
                <a:latin typeface="Verdana" pitchFamily="34" charset="0"/>
                <a:ea typeface="Verdana" pitchFamily="34" charset="-122"/>
                <a:cs typeface="Verdana" pitchFamily="34" charset="-120"/>
              </a:rPr>
              <a:t>TARGET SUITE</a:t>
            </a:r>
            <a:endParaRPr lang="en-US" sz="900" dirty="0"/>
          </a:p>
        </p:txBody>
      </p:sp>
      <p:sp>
        <p:nvSpPr>
          <p:cNvPr id="65" name="Text 63"/>
          <p:cNvSpPr txBox="1"/>
          <p:nvPr/>
        </p:nvSpPr>
        <p:spPr>
          <a:xfrm>
            <a:off x="9747504" y="3547872"/>
            <a:ext cx="1901952" cy="402336"/>
          </a:xfrm>
          <a:prstGeom prst="rect">
            <a:avLst/>
          </a:prstGeom>
          <a:noFill/>
          <a:ln/>
        </p:spPr>
        <p:txBody>
          <a:bodyPr wrap="square" lIns="0" tIns="0" rIns="0" bIns="0" rtlCol="0" anchor="t"/>
          <a:lstStyle/>
          <a:p>
            <a:pPr algn="ctr" indent="0" marL="0">
              <a:lnSpc>
                <a:spcPts val="1150"/>
              </a:lnSpc>
              <a:buNone/>
            </a:pPr>
            <a:r>
              <a:rPr lang="en-US" sz="750" dirty="0">
                <a:solidFill>
                  <a:srgbClr val="000000"/>
                </a:solidFill>
                <a:latin typeface="Verdana" pitchFamily="34" charset="0"/>
                <a:ea typeface="Verdana" pitchFamily="34" charset="-122"/>
                <a:cs typeface="Verdana" pitchFamily="34" charset="-120"/>
              </a:rPr>
              <a:t>Selenium or Playwright</a:t>
            </a:r>
            <a:endParaRPr lang="en-US" sz="750" dirty="0"/>
          </a:p>
        </p:txBody>
      </p:sp>
      <p:sp>
        <p:nvSpPr>
          <p:cNvPr id="66" name="Shape 64"/>
          <p:cNvSpPr/>
          <p:nvPr/>
        </p:nvSpPr>
        <p:spPr>
          <a:xfrm>
            <a:off x="9326880" y="4626864"/>
            <a:ext cx="182880" cy="256032"/>
          </a:xfrm>
          <a:prstGeom prst="chevron">
            <a:avLst/>
          </a:prstGeom>
          <a:solidFill>
            <a:srgbClr val="1A5FB4"/>
          </a:solidFill>
          <a:ln/>
        </p:spPr>
      </p:sp>
      <p:sp>
        <p:nvSpPr>
          <p:cNvPr id="67" name="Shape 65"/>
          <p:cNvSpPr/>
          <p:nvPr/>
        </p:nvSpPr>
        <p:spPr>
          <a:xfrm>
            <a:off x="9656064" y="4352544"/>
            <a:ext cx="2084832" cy="804672"/>
          </a:xfrm>
          <a:prstGeom prst="roundRect">
            <a:avLst>
              <a:gd name="adj" fmla="val 5682"/>
            </a:avLst>
          </a:prstGeom>
          <a:solidFill>
            <a:srgbClr val="FFFFFF"/>
          </a:solidFill>
          <a:ln w="15875">
            <a:solidFill>
              <a:srgbClr val="1A5FB4"/>
            </a:solidFill>
            <a:prstDash val="solid"/>
          </a:ln>
        </p:spPr>
      </p:sp>
      <p:sp>
        <p:nvSpPr>
          <p:cNvPr id="68" name="Text 66"/>
          <p:cNvSpPr txBox="1"/>
          <p:nvPr/>
        </p:nvSpPr>
        <p:spPr>
          <a:xfrm>
            <a:off x="9747504" y="4489704"/>
            <a:ext cx="1901952" cy="402336"/>
          </a:xfrm>
          <a:prstGeom prst="rect">
            <a:avLst/>
          </a:prstGeom>
          <a:noFill/>
          <a:ln/>
        </p:spPr>
        <p:txBody>
          <a:bodyPr wrap="square" lIns="0" tIns="0" rIns="0" bIns="0" rtlCol="0" anchor="t"/>
          <a:lstStyle/>
          <a:p>
            <a:pPr algn="ctr" indent="0" marL="0">
              <a:buNone/>
            </a:pPr>
            <a:r>
              <a:rPr lang="en-US" sz="900" b="1" dirty="0">
                <a:solidFill>
                  <a:srgbClr val="1A5FB4"/>
                </a:solidFill>
                <a:latin typeface="Verdana" pitchFamily="34" charset="0"/>
                <a:ea typeface="Verdana" pitchFamily="34" charset="-122"/>
                <a:cs typeface="Verdana" pitchFamily="34" charset="-120"/>
              </a:rPr>
              <a:t>EQUIVALENCE REPORT</a:t>
            </a:r>
            <a:endParaRPr lang="en-US" sz="900" dirty="0"/>
          </a:p>
        </p:txBody>
      </p:sp>
      <p:sp>
        <p:nvSpPr>
          <p:cNvPr id="69" name="Text 67"/>
          <p:cNvSpPr txBox="1"/>
          <p:nvPr/>
        </p:nvSpPr>
        <p:spPr>
          <a:xfrm>
            <a:off x="9747504" y="4681728"/>
            <a:ext cx="1901952" cy="402336"/>
          </a:xfrm>
          <a:prstGeom prst="rect">
            <a:avLst/>
          </a:prstGeom>
          <a:noFill/>
          <a:ln/>
        </p:spPr>
        <p:txBody>
          <a:bodyPr wrap="square" lIns="0" tIns="0" rIns="0" bIns="0" rtlCol="0" anchor="t"/>
          <a:lstStyle/>
          <a:p>
            <a:pPr algn="ctr" indent="0" marL="0">
              <a:lnSpc>
                <a:spcPts val="1150"/>
              </a:lnSpc>
              <a:buNone/>
            </a:pPr>
            <a:r>
              <a:rPr lang="en-US" sz="750" dirty="0">
                <a:solidFill>
                  <a:srgbClr val="000000"/>
                </a:solidFill>
                <a:latin typeface="Verdana" pitchFamily="34" charset="0"/>
                <a:ea typeface="Verdana" pitchFamily="34" charset="-122"/>
                <a:cs typeface="Verdana" pitchFamily="34" charset="-120"/>
              </a:rPr>
              <a:t>coverage evidence for sign-off</a:t>
            </a:r>
            <a:endParaRPr lang="en-US" sz="750" dirty="0"/>
          </a:p>
        </p:txBody>
      </p:sp>
      <p:sp>
        <p:nvSpPr>
          <p:cNvPr id="70" name="Shape 68"/>
          <p:cNvSpPr/>
          <p:nvPr/>
        </p:nvSpPr>
        <p:spPr>
          <a:xfrm>
            <a:off x="420624" y="5541264"/>
            <a:ext cx="11320272" cy="475488"/>
          </a:xfrm>
          <a:prstGeom prst="roundRect">
            <a:avLst>
              <a:gd name="adj" fmla="val 9615"/>
            </a:avLst>
          </a:prstGeom>
          <a:solidFill>
            <a:srgbClr val="17A398"/>
          </a:solidFill>
          <a:ln/>
        </p:spPr>
      </p:sp>
      <p:sp>
        <p:nvSpPr>
          <p:cNvPr id="71" name="Text 69"/>
          <p:cNvSpPr txBox="1"/>
          <p:nvPr/>
        </p:nvSpPr>
        <p:spPr>
          <a:xfrm>
            <a:off x="420624" y="5541264"/>
            <a:ext cx="11320272" cy="475488"/>
          </a:xfrm>
          <a:prstGeom prst="rect">
            <a:avLst/>
          </a:prstGeom>
          <a:noFill/>
          <a:ln/>
        </p:spPr>
        <p:txBody>
          <a:bodyPr wrap="square" lIns="0" tIns="0" rIns="0" bIns="0" rtlCol="0" anchor="ctr"/>
          <a:lstStyle/>
          <a:p>
            <a:pPr algn="ctr" indent="0" marL="0">
              <a:buNone/>
            </a:pPr>
            <a:r>
              <a:rPr lang="en-US" sz="1050" b="1" spc="120" kern="0" dirty="0">
                <a:solidFill>
                  <a:srgbClr val="FFFFFF"/>
                </a:solidFill>
                <a:latin typeface="Verdana" pitchFamily="34" charset="0"/>
                <a:ea typeface="Verdana" pitchFamily="34" charset="-122"/>
                <a:cs typeface="Verdana" pitchFamily="34" charset="-120"/>
              </a:rPr>
              <a:t>HUMAN GATES     </a:t>
            </a:r>
            <a:r>
              <a:rPr lang="en-US" sz="1050" dirty="0">
                <a:solidFill>
                  <a:srgbClr val="FFFFFF"/>
                </a:solidFill>
                <a:latin typeface="Verdana" pitchFamily="34" charset="0"/>
                <a:ea typeface="Verdana" pitchFamily="34" charset="-122"/>
                <a:cs typeface="Verdana" pitchFamily="34" charset="-120"/>
              </a:rPr>
              <a:t>Intent review     ·     Gap adjudication     ·     Complex-flow authoring     ·     Equivalence sign-off</a:t>
            </a:r>
            <a:endParaRPr lang="en-US" sz="1050" dirty="0"/>
          </a:p>
        </p:txBody>
      </p:sp>
      <p:sp>
        <p:nvSpPr>
          <p:cNvPr id="72" name="Shape 70"/>
          <p:cNvSpPr/>
          <p:nvPr/>
        </p:nvSpPr>
        <p:spPr>
          <a:xfrm>
            <a:off x="420624" y="6108192"/>
            <a:ext cx="11320272" cy="475488"/>
          </a:xfrm>
          <a:prstGeom prst="roundRect">
            <a:avLst>
              <a:gd name="adj" fmla="val 9615"/>
            </a:avLst>
          </a:prstGeom>
          <a:solidFill>
            <a:srgbClr val="12447F"/>
          </a:solidFill>
          <a:ln/>
        </p:spPr>
      </p:sp>
      <p:sp>
        <p:nvSpPr>
          <p:cNvPr id="73" name="Text 71"/>
          <p:cNvSpPr txBox="1"/>
          <p:nvPr/>
        </p:nvSpPr>
        <p:spPr>
          <a:xfrm>
            <a:off x="420624" y="6108192"/>
            <a:ext cx="11320272" cy="475488"/>
          </a:xfrm>
          <a:prstGeom prst="rect">
            <a:avLst/>
          </a:prstGeom>
          <a:noFill/>
          <a:ln/>
        </p:spPr>
        <p:txBody>
          <a:bodyPr wrap="square" lIns="0" tIns="0" rIns="0" bIns="0" rtlCol="0" anchor="ctr"/>
          <a:lstStyle/>
          <a:p>
            <a:pPr algn="ctr" indent="0" marL="0">
              <a:buNone/>
            </a:pPr>
            <a:r>
              <a:rPr lang="en-US" sz="1050" b="1" spc="120" kern="0" dirty="0">
                <a:solidFill>
                  <a:srgbClr val="FFFFFF"/>
                </a:solidFill>
                <a:latin typeface="Verdana" pitchFamily="34" charset="0"/>
                <a:ea typeface="Verdana" pitchFamily="34" charset="-122"/>
                <a:cs typeface="Verdana" pitchFamily="34" charset="-120"/>
              </a:rPr>
              <a:t>RUNNING THROUGHOUT     </a:t>
            </a:r>
            <a:r>
              <a:rPr lang="en-US" sz="1050" dirty="0">
                <a:solidFill>
                  <a:srgbClr val="FFFFFF"/>
                </a:solidFill>
                <a:latin typeface="Verdana" pitchFamily="34" charset="0"/>
                <a:ea typeface="Verdana" pitchFamily="34" charset="-122"/>
                <a:cs typeface="Verdana" pitchFamily="34" charset="-120"/>
              </a:rPr>
              <a:t>The legacy suite stays in service until the equivalence report is accepted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37744"/>
          </a:xfrm>
          <a:prstGeom prst="rect">
            <a:avLst/>
          </a:prstGeom>
          <a:noFill/>
          <a:ln/>
        </p:spPr>
        <p:txBody>
          <a:bodyPr wrap="square" lIns="0" tIns="0" rIns="0" bIns="0" rtlCol="0" anchor="t"/>
          <a:lstStyle/>
          <a:p>
            <a:pPr indent="0" marL="0">
              <a:buNone/>
            </a:pPr>
            <a:r>
              <a:rPr lang="en-US" sz="1000" b="1" spc="180" kern="0" dirty="0">
                <a:solidFill>
                  <a:srgbClr val="17A398"/>
                </a:solidFill>
                <a:latin typeface="Verdana" pitchFamily="34" charset="0"/>
                <a:ea typeface="Verdana" pitchFamily="34" charset="-122"/>
                <a:cs typeface="Verdana" pitchFamily="34" charset="-120"/>
              </a:rPr>
              <a:t>THE DIFFERENTIATOR</a:t>
            </a:r>
            <a:endParaRPr lang="en-US" sz="1000" dirty="0"/>
          </a:p>
        </p:txBody>
      </p:sp>
      <p:sp>
        <p:nvSpPr>
          <p:cNvPr id="3" name="Text 1"/>
          <p:cNvSpPr txBox="1"/>
          <p:nvPr/>
        </p:nvSpPr>
        <p:spPr>
          <a:xfrm>
            <a:off x="548640" y="585216"/>
            <a:ext cx="4572000" cy="566928"/>
          </a:xfrm>
          <a:prstGeom prst="rect">
            <a:avLst/>
          </a:prstGeom>
          <a:noFill/>
          <a:ln/>
        </p:spPr>
        <p:txBody>
          <a:bodyPr wrap="square" lIns="0" tIns="0" rIns="0" bIns="0" rtlCol="0" anchor="t"/>
          <a:lstStyle/>
          <a:p>
            <a:pPr indent="0" marL="0">
              <a:buNone/>
            </a:pPr>
            <a:r>
              <a:rPr lang="en-US" sz="2000" b="1" dirty="0">
                <a:solidFill>
                  <a:srgbClr val="000000"/>
                </a:solidFill>
                <a:latin typeface="Verdana" pitchFamily="34" charset="0"/>
                <a:ea typeface="Verdana" pitchFamily="34" charset="-122"/>
                <a:cs typeface="Verdana" pitchFamily="34" charset="-120"/>
              </a:rPr>
              <a:t>THE RECOVERY</a:t>
            </a:r>
            <a:endParaRPr lang="en-US" sz="2000" dirty="0"/>
          </a:p>
        </p:txBody>
      </p:sp>
      <p:sp>
        <p:nvSpPr>
          <p:cNvPr id="4" name="Text 2"/>
          <p:cNvSpPr txBox="1"/>
          <p:nvPr/>
        </p:nvSpPr>
        <p:spPr>
          <a:xfrm>
            <a:off x="548640" y="969264"/>
            <a:ext cx="4572000" cy="566928"/>
          </a:xfrm>
          <a:prstGeom prst="rect">
            <a:avLst/>
          </a:prstGeom>
          <a:noFill/>
          <a:ln/>
        </p:spPr>
        <p:txBody>
          <a:bodyPr wrap="square" lIns="0" tIns="0" rIns="0" bIns="0" rtlCol="0" anchor="t"/>
          <a:lstStyle/>
          <a:p>
            <a:pPr indent="0" marL="0">
              <a:buNone/>
            </a:pPr>
            <a:r>
              <a:rPr lang="en-US" sz="2000" b="1" dirty="0">
                <a:solidFill>
                  <a:srgbClr val="1A5FB4"/>
                </a:solidFill>
                <a:latin typeface="Verdana" pitchFamily="34" charset="0"/>
                <a:ea typeface="Verdana" pitchFamily="34" charset="-122"/>
                <a:cs typeface="Verdana" pitchFamily="34" charset="-120"/>
              </a:rPr>
              <a:t>OF INTENT</a:t>
            </a:r>
            <a:endParaRPr lang="en-US" sz="2000" dirty="0"/>
          </a:p>
        </p:txBody>
      </p:sp>
      <p:sp>
        <p:nvSpPr>
          <p:cNvPr id="5" name="Shape 3"/>
          <p:cNvSpPr/>
          <p:nvPr/>
        </p:nvSpPr>
        <p:spPr>
          <a:xfrm>
            <a:off x="4846320" y="640080"/>
            <a:ext cx="6766560" cy="1024128"/>
          </a:xfrm>
          <a:prstGeom prst="roundRect">
            <a:avLst>
              <a:gd name="adj" fmla="val 4464"/>
            </a:avLst>
          </a:prstGeom>
          <a:solidFill>
            <a:srgbClr val="E4ECF6"/>
          </a:solidFill>
          <a:ln/>
        </p:spPr>
      </p:sp>
      <p:sp>
        <p:nvSpPr>
          <p:cNvPr id="6" name="Text 4"/>
          <p:cNvSpPr txBox="1"/>
          <p:nvPr/>
        </p:nvSpPr>
        <p:spPr>
          <a:xfrm>
            <a:off x="5120640" y="768096"/>
            <a:ext cx="6217920" cy="786384"/>
          </a:xfrm>
          <a:prstGeom prst="rect">
            <a:avLst/>
          </a:prstGeom>
          <a:noFill/>
          <a:ln/>
        </p:spPr>
        <p:txBody>
          <a:bodyPr wrap="square" lIns="0" tIns="0" rIns="0" bIns="0" rtlCol="0" anchor="ctr"/>
          <a:lstStyle/>
          <a:p>
            <a:pPr indent="0" marL="0">
              <a:lnSpc>
                <a:spcPts val="1800"/>
              </a:lnSpc>
              <a:buNone/>
            </a:pPr>
            <a:r>
              <a:rPr lang="en-US" sz="900" b="1" spc="140" kern="0" dirty="0">
                <a:solidFill>
                  <a:srgbClr val="1A5FB4"/>
                </a:solidFill>
                <a:latin typeface="Verdana" pitchFamily="34" charset="0"/>
                <a:ea typeface="Verdana" pitchFamily="34" charset="-122"/>
                <a:cs typeface="Verdana" pitchFamily="34" charset="-120"/>
              </a:rPr>
              <a:t>EXTRACTED INTENT
</a:t>
            </a:r>
            <a:r>
              <a:rPr lang="en-US" sz="1250" i="1" dirty="0">
                <a:solidFill>
                  <a:srgbClr val="000000"/>
                </a:solidFill>
                <a:latin typeface="Verdana" pitchFamily="34" charset="0"/>
                <a:ea typeface="Verdana" pitchFamily="34" charset="-122"/>
                <a:cs typeface="Verdana" pitchFamily="34" charset="-120"/>
              </a:rPr>
              <a:t>“A customer flagged as blocked cannot place an order exceeding their credit limit.”</a:t>
            </a:r>
            <a:endParaRPr lang="en-US" sz="900" dirty="0"/>
          </a:p>
        </p:txBody>
      </p:sp>
      <p:sp>
        <p:nvSpPr>
          <p:cNvPr id="7" name="Shape 5"/>
          <p:cNvSpPr/>
          <p:nvPr/>
        </p:nvSpPr>
        <p:spPr>
          <a:xfrm>
            <a:off x="548640" y="1664208"/>
            <a:ext cx="3602736" cy="3749040"/>
          </a:xfrm>
          <a:prstGeom prst="roundRect">
            <a:avLst>
              <a:gd name="adj" fmla="val 1269"/>
            </a:avLst>
          </a:prstGeom>
          <a:solidFill>
            <a:srgbClr val="F1F4F7"/>
          </a:solidFill>
          <a:ln/>
        </p:spPr>
      </p:sp>
      <p:sp>
        <p:nvSpPr>
          <p:cNvPr id="8" name="Shape 6"/>
          <p:cNvSpPr/>
          <p:nvPr/>
        </p:nvSpPr>
        <p:spPr>
          <a:xfrm>
            <a:off x="822960" y="1865376"/>
            <a:ext cx="457200" cy="457200"/>
          </a:xfrm>
          <a:prstGeom prst="diamond">
            <a:avLst/>
          </a:prstGeom>
          <a:solidFill>
            <a:srgbClr val="1A5FB4"/>
          </a:solidFill>
          <a:ln/>
        </p:spPr>
      </p:sp>
      <p:sp>
        <p:nvSpPr>
          <p:cNvPr id="9" name="Text 7"/>
          <p:cNvSpPr txBox="1"/>
          <p:nvPr/>
        </p:nvSpPr>
        <p:spPr>
          <a:xfrm>
            <a:off x="822960" y="1865376"/>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Verdana" pitchFamily="34" charset="0"/>
                <a:ea typeface="Verdana" pitchFamily="34" charset="-122"/>
                <a:cs typeface="Verdana" pitchFamily="34" charset="-120"/>
              </a:rPr>
              <a:t>1</a:t>
            </a:r>
            <a:endParaRPr lang="en-US" sz="1100" dirty="0"/>
          </a:p>
        </p:txBody>
      </p:sp>
      <p:sp>
        <p:nvSpPr>
          <p:cNvPr id="10" name="Text 8"/>
          <p:cNvSpPr txBox="1"/>
          <p:nvPr/>
        </p:nvSpPr>
        <p:spPr>
          <a:xfrm>
            <a:off x="822960" y="2432304"/>
            <a:ext cx="3054096" cy="457200"/>
          </a:xfrm>
          <a:prstGeom prst="rect">
            <a:avLst/>
          </a:prstGeom>
          <a:noFill/>
          <a:ln/>
        </p:spPr>
        <p:txBody>
          <a:bodyPr wrap="square" lIns="0" tIns="0" rIns="0" bIns="0" rtlCol="0" anchor="t"/>
          <a:lstStyle/>
          <a:p>
            <a:pPr indent="0" marL="0">
              <a:buNone/>
            </a:pPr>
            <a:r>
              <a:rPr lang="en-US" sz="1200" b="1" dirty="0">
                <a:solidFill>
                  <a:srgbClr val="1A5FB4"/>
                </a:solidFill>
                <a:latin typeface="Verdana" pitchFamily="34" charset="0"/>
                <a:ea typeface="Verdana" pitchFamily="34" charset="-122"/>
                <a:cs typeface="Verdana" pitchFamily="34" charset="-120"/>
              </a:rPr>
              <a:t>SEPARATES THE TWO SKILLS</a:t>
            </a:r>
            <a:endParaRPr lang="en-US" sz="1200" dirty="0"/>
          </a:p>
        </p:txBody>
      </p:sp>
      <p:sp>
        <p:nvSpPr>
          <p:cNvPr id="11" name="Text 9"/>
          <p:cNvSpPr txBox="1"/>
          <p:nvPr/>
        </p:nvSpPr>
        <p:spPr>
          <a:xfrm>
            <a:off x="822960" y="2889504"/>
            <a:ext cx="3054096" cy="1664208"/>
          </a:xfrm>
          <a:prstGeom prst="rect">
            <a:avLst/>
          </a:prstGeom>
          <a:noFill/>
          <a:ln/>
        </p:spPr>
        <p:txBody>
          <a:bodyPr wrap="square" lIns="0" tIns="0" rIns="0" bIns="0" rtlCol="0" anchor="t"/>
          <a:lstStyle/>
          <a:p>
            <a:pPr marL="190500" indent="-190500">
              <a:lnSpc>
                <a:spcPts val="1500"/>
              </a:lnSpc>
              <a:spcAft>
                <a:spcPts val="700"/>
              </a:spcAft>
              <a:buSzPct val="100000"/>
              <a:buChar char="•"/>
            </a:pPr>
            <a:r>
              <a:rPr lang="en-US" sz="1050" dirty="0">
                <a:solidFill>
                  <a:srgbClr val="000000"/>
                </a:solidFill>
                <a:latin typeface="Verdana" pitchFamily="34" charset="0"/>
                <a:ea typeface="Verdana" pitchFamily="34" charset="-122"/>
                <a:cs typeface="Verdana" pitchFamily="34" charset="-120"/>
              </a:rPr>
              <a:t>The agent reads the source and </a:t>
            </a:r>
            <a:r>
              <a:rPr lang="en-US" sz="1050" b="1" dirty="0">
                <a:solidFill>
                  <a:srgbClr val="000000"/>
                </a:solidFill>
                <a:latin typeface="Verdana" pitchFamily="34" charset="0"/>
                <a:ea typeface="Verdana" pitchFamily="34" charset="-122"/>
                <a:cs typeface="Verdana" pitchFamily="34" charset="-120"/>
              </a:rPr>
              <a:t>writes the target platform</a:t>
            </a:r>
            <a:endParaRPr lang="en-US" sz="1050" dirty="0"/>
          </a:p>
          <a:p>
            <a:pPr marL="190500" indent="-190500">
              <a:lnSpc>
                <a:spcPts val="1500"/>
              </a:lnSpc>
              <a:spcAft>
                <a:spcPts val="700"/>
              </a:spcAft>
              <a:buSzPct val="100000"/>
              <a:buChar char="•"/>
            </a:pPr>
            <a:r>
              <a:rPr lang="en-US" sz="1050" dirty="0">
                <a:solidFill>
                  <a:srgbClr val="000000"/>
                </a:solidFill>
                <a:latin typeface="Verdana" pitchFamily="34" charset="0"/>
                <a:ea typeface="Verdana" pitchFamily="34" charset="-122"/>
                <a:cs typeface="Verdana" pitchFamily="34" charset="-120"/>
              </a:rPr>
              <a:t>One engineer needs depth in a </a:t>
            </a:r>
            <a:r>
              <a:rPr lang="en-US" sz="1050" b="1" dirty="0">
                <a:solidFill>
                  <a:srgbClr val="000000"/>
                </a:solidFill>
                <a:latin typeface="Verdana" pitchFamily="34" charset="0"/>
                <a:ea typeface="Verdana" pitchFamily="34" charset="-122"/>
                <a:cs typeface="Verdana" pitchFamily="34" charset="-120"/>
              </a:rPr>
              <a:t>single framework</a:t>
            </a:r>
            <a:endParaRPr lang="en-US" sz="1050" dirty="0"/>
          </a:p>
          <a:p>
            <a:pPr marL="190500" indent="-190500">
              <a:lnSpc>
                <a:spcPts val="1500"/>
              </a:lnSpc>
              <a:spcAft>
                <a:spcPts val="700"/>
              </a:spcAft>
              <a:buSzPct val="100000"/>
              <a:buChar char="•"/>
            </a:pPr>
            <a:r>
              <a:rPr lang="en-US" sz="1050" dirty="0">
                <a:solidFill>
                  <a:srgbClr val="000000"/>
                </a:solidFill>
                <a:latin typeface="Verdana" pitchFamily="34" charset="0"/>
                <a:ea typeface="Verdana" pitchFamily="34" charset="-122"/>
                <a:cs typeface="Verdana" pitchFamily="34" charset="-120"/>
              </a:rPr>
              <a:t>The target remains your decision: </a:t>
            </a:r>
            <a:r>
              <a:rPr lang="en-US" sz="1050" b="1" dirty="0">
                <a:solidFill>
                  <a:srgbClr val="000000"/>
                </a:solidFill>
                <a:latin typeface="Verdana" pitchFamily="34" charset="0"/>
                <a:ea typeface="Verdana" pitchFamily="34" charset="-122"/>
                <a:cs typeface="Verdana" pitchFamily="34" charset="-120"/>
              </a:rPr>
              <a:t>Selenium or Playwright</a:t>
            </a:r>
            <a:endParaRPr lang="en-US" sz="1050" dirty="0"/>
          </a:p>
        </p:txBody>
      </p:sp>
      <p:sp>
        <p:nvSpPr>
          <p:cNvPr id="12" name="Shape 10"/>
          <p:cNvSpPr/>
          <p:nvPr/>
        </p:nvSpPr>
        <p:spPr>
          <a:xfrm>
            <a:off x="713232" y="4590288"/>
            <a:ext cx="3273552" cy="768096"/>
          </a:xfrm>
          <a:prstGeom prst="roundRect">
            <a:avLst>
              <a:gd name="adj" fmla="val 5952"/>
            </a:avLst>
          </a:prstGeom>
          <a:solidFill>
            <a:srgbClr val="DFF2F0"/>
          </a:solidFill>
          <a:ln/>
        </p:spPr>
      </p:sp>
      <p:sp>
        <p:nvSpPr>
          <p:cNvPr id="13" name="Text 11"/>
          <p:cNvSpPr txBox="1"/>
          <p:nvPr/>
        </p:nvSpPr>
        <p:spPr>
          <a:xfrm>
            <a:off x="859536" y="4681728"/>
            <a:ext cx="2980944" cy="201168"/>
          </a:xfrm>
          <a:prstGeom prst="rect">
            <a:avLst/>
          </a:prstGeom>
          <a:noFill/>
          <a:ln/>
        </p:spPr>
        <p:txBody>
          <a:bodyPr wrap="square" lIns="0" tIns="0" rIns="0" bIns="0" rtlCol="0" anchor="t"/>
          <a:lstStyle/>
          <a:p>
            <a:pPr indent="0" marL="0">
              <a:buNone/>
            </a:pPr>
            <a:r>
              <a:rPr lang="en-US" sz="850" b="1" spc="120" kern="0" dirty="0">
                <a:solidFill>
                  <a:srgbClr val="0B6B63"/>
                </a:solidFill>
                <a:latin typeface="Verdana" pitchFamily="34" charset="0"/>
                <a:ea typeface="Verdana" pitchFamily="34" charset="-122"/>
                <a:cs typeface="Verdana" pitchFamily="34" charset="-120"/>
              </a:rPr>
              <a:t>WHERE THE HUMAN SITS</a:t>
            </a:r>
            <a:endParaRPr lang="en-US" sz="850" dirty="0"/>
          </a:p>
        </p:txBody>
      </p:sp>
      <p:sp>
        <p:nvSpPr>
          <p:cNvPr id="14" name="Text 12"/>
          <p:cNvSpPr txBox="1"/>
          <p:nvPr/>
        </p:nvSpPr>
        <p:spPr>
          <a:xfrm>
            <a:off x="859536" y="4864608"/>
            <a:ext cx="2980944" cy="457200"/>
          </a:xfrm>
          <a:prstGeom prst="rect">
            <a:avLst/>
          </a:prstGeom>
          <a:noFill/>
          <a:ln/>
        </p:spPr>
        <p:txBody>
          <a:bodyPr wrap="square" lIns="0" tIns="0" rIns="0" bIns="0" rtlCol="0" anchor="t"/>
          <a:lstStyle/>
          <a:p>
            <a:pPr indent="0" marL="0">
              <a:lnSpc>
                <a:spcPts val="1250"/>
              </a:lnSpc>
              <a:buNone/>
            </a:pPr>
            <a:r>
              <a:rPr lang="en-US" sz="950" dirty="0">
                <a:solidFill>
                  <a:srgbClr val="000000"/>
                </a:solidFill>
                <a:latin typeface="Verdana" pitchFamily="34" charset="0"/>
                <a:ea typeface="Verdana" pitchFamily="34" charset="-122"/>
                <a:cs typeface="Verdana" pitchFamily="34" charset="-120"/>
              </a:rPr>
              <a:t>Domain experts confirm the recovered intent. This is business judgement applied to business behaviour.</a:t>
            </a:r>
            <a:endParaRPr lang="en-US" sz="950" dirty="0"/>
          </a:p>
        </p:txBody>
      </p:sp>
      <p:sp>
        <p:nvSpPr>
          <p:cNvPr id="15" name="Shape 13"/>
          <p:cNvSpPr/>
          <p:nvPr/>
        </p:nvSpPr>
        <p:spPr>
          <a:xfrm>
            <a:off x="4416552" y="1664208"/>
            <a:ext cx="3602736" cy="3749040"/>
          </a:xfrm>
          <a:prstGeom prst="roundRect">
            <a:avLst>
              <a:gd name="adj" fmla="val 1269"/>
            </a:avLst>
          </a:prstGeom>
          <a:solidFill>
            <a:srgbClr val="F1F4F7"/>
          </a:solidFill>
          <a:ln/>
        </p:spPr>
      </p:sp>
      <p:sp>
        <p:nvSpPr>
          <p:cNvPr id="16" name="Shape 14"/>
          <p:cNvSpPr/>
          <p:nvPr/>
        </p:nvSpPr>
        <p:spPr>
          <a:xfrm>
            <a:off x="4690872" y="1865376"/>
            <a:ext cx="457200" cy="457200"/>
          </a:xfrm>
          <a:prstGeom prst="diamond">
            <a:avLst/>
          </a:prstGeom>
          <a:solidFill>
            <a:srgbClr val="1A5FB4"/>
          </a:solidFill>
          <a:ln/>
        </p:spPr>
      </p:sp>
      <p:sp>
        <p:nvSpPr>
          <p:cNvPr id="17" name="Text 15"/>
          <p:cNvSpPr txBox="1"/>
          <p:nvPr/>
        </p:nvSpPr>
        <p:spPr>
          <a:xfrm>
            <a:off x="4690872" y="1865376"/>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Verdana" pitchFamily="34" charset="0"/>
                <a:ea typeface="Verdana" pitchFamily="34" charset="-122"/>
                <a:cs typeface="Verdana" pitchFamily="34" charset="-120"/>
              </a:rPr>
              <a:t>2</a:t>
            </a:r>
            <a:endParaRPr lang="en-US" sz="1100" dirty="0"/>
          </a:p>
        </p:txBody>
      </p:sp>
      <p:sp>
        <p:nvSpPr>
          <p:cNvPr id="18" name="Text 16"/>
          <p:cNvSpPr txBox="1"/>
          <p:nvPr/>
        </p:nvSpPr>
        <p:spPr>
          <a:xfrm>
            <a:off x="4690872" y="2432304"/>
            <a:ext cx="3054096" cy="457200"/>
          </a:xfrm>
          <a:prstGeom prst="rect">
            <a:avLst/>
          </a:prstGeom>
          <a:noFill/>
          <a:ln/>
        </p:spPr>
        <p:txBody>
          <a:bodyPr wrap="square" lIns="0" tIns="0" rIns="0" bIns="0" rtlCol="0" anchor="t"/>
          <a:lstStyle/>
          <a:p>
            <a:pPr indent="0" marL="0">
              <a:buNone/>
            </a:pPr>
            <a:r>
              <a:rPr lang="en-US" sz="1200" b="1" dirty="0">
                <a:solidFill>
                  <a:srgbClr val="1A5FB4"/>
                </a:solidFill>
                <a:latin typeface="Verdana" pitchFamily="34" charset="0"/>
                <a:ea typeface="Verdana" pitchFamily="34" charset="-122"/>
                <a:cs typeface="Verdana" pitchFamily="34" charset="-120"/>
              </a:rPr>
              <a:t>MAKES THE WORK REVIEWABLE</a:t>
            </a:r>
            <a:endParaRPr lang="en-US" sz="1200" dirty="0"/>
          </a:p>
        </p:txBody>
      </p:sp>
      <p:sp>
        <p:nvSpPr>
          <p:cNvPr id="19" name="Text 17"/>
          <p:cNvSpPr txBox="1"/>
          <p:nvPr/>
        </p:nvSpPr>
        <p:spPr>
          <a:xfrm>
            <a:off x="4690872" y="2889504"/>
            <a:ext cx="3054096" cy="1664208"/>
          </a:xfrm>
          <a:prstGeom prst="rect">
            <a:avLst/>
          </a:prstGeom>
          <a:noFill/>
          <a:ln/>
        </p:spPr>
        <p:txBody>
          <a:bodyPr wrap="square" lIns="0" tIns="0" rIns="0" bIns="0" rtlCol="0" anchor="t"/>
          <a:lstStyle/>
          <a:p>
            <a:pPr marL="190500" indent="-190500">
              <a:lnSpc>
                <a:spcPts val="1500"/>
              </a:lnSpc>
              <a:spcAft>
                <a:spcPts val="700"/>
              </a:spcAft>
              <a:buSzPct val="100000"/>
              <a:buChar char="•"/>
            </a:pPr>
            <a:r>
              <a:rPr lang="en-US" sz="1050" dirty="0">
                <a:solidFill>
                  <a:srgbClr val="000000"/>
                </a:solidFill>
                <a:latin typeface="Verdana" pitchFamily="34" charset="0"/>
                <a:ea typeface="Verdana" pitchFamily="34" charset="-122"/>
                <a:cs typeface="Verdana" pitchFamily="34" charset="-120"/>
              </a:rPr>
              <a:t>Review moves to </a:t>
            </a:r>
            <a:r>
              <a:rPr lang="en-US" sz="1050" b="1" dirty="0">
                <a:solidFill>
                  <a:srgbClr val="000000"/>
                </a:solidFill>
                <a:latin typeface="Verdana" pitchFamily="34" charset="0"/>
                <a:ea typeface="Verdana" pitchFamily="34" charset="-122"/>
                <a:cs typeface="Verdana" pitchFamily="34" charset="-120"/>
              </a:rPr>
              <a:t>plain-English statements of behaviour</a:t>
            </a:r>
            <a:endParaRPr lang="en-US" sz="1050" dirty="0"/>
          </a:p>
          <a:p>
            <a:pPr marL="190500" indent="-190500">
              <a:lnSpc>
                <a:spcPts val="1500"/>
              </a:lnSpc>
              <a:spcAft>
                <a:spcPts val="700"/>
              </a:spcAft>
              <a:buSzPct val="100000"/>
              <a:buChar char="•"/>
            </a:pPr>
            <a:r>
              <a:rPr lang="en-US" sz="1050" dirty="0">
                <a:solidFill>
                  <a:srgbClr val="000000"/>
                </a:solidFill>
                <a:latin typeface="Verdana" pitchFamily="34" charset="0"/>
                <a:ea typeface="Verdana" pitchFamily="34" charset="-122"/>
                <a:cs typeface="Verdana" pitchFamily="34" charset="-120"/>
              </a:rPr>
              <a:t>Those statements can be read at </a:t>
            </a:r>
            <a:r>
              <a:rPr lang="en-US" sz="1050" b="1" dirty="0">
                <a:solidFill>
                  <a:srgbClr val="000000"/>
                </a:solidFill>
                <a:latin typeface="Verdana" pitchFamily="34" charset="0"/>
                <a:ea typeface="Verdana" pitchFamily="34" charset="-122"/>
                <a:cs typeface="Verdana" pitchFamily="34" charset="-120"/>
              </a:rPr>
              <a:t>estate scale</a:t>
            </a:r>
            <a:endParaRPr lang="en-US" sz="1050" dirty="0"/>
          </a:p>
          <a:p>
            <a:pPr marL="190500" indent="-190500">
              <a:lnSpc>
                <a:spcPts val="1500"/>
              </a:lnSpc>
              <a:spcAft>
                <a:spcPts val="700"/>
              </a:spcAft>
              <a:buSzPct val="100000"/>
              <a:buChar char="•"/>
            </a:pPr>
            <a:r>
              <a:rPr lang="en-US" sz="1050" dirty="0">
                <a:solidFill>
                  <a:srgbClr val="000000"/>
                </a:solidFill>
                <a:latin typeface="Verdana" pitchFamily="34" charset="0"/>
                <a:ea typeface="Verdana" pitchFamily="34" charset="-122"/>
                <a:cs typeface="Verdana" pitchFamily="34" charset="-120"/>
              </a:rPr>
              <a:t>Manual cases give every script a </a:t>
            </a:r>
            <a:r>
              <a:rPr lang="en-US" sz="1050" b="1" dirty="0">
                <a:solidFill>
                  <a:srgbClr val="000000"/>
                </a:solidFill>
                <a:latin typeface="Verdana" pitchFamily="34" charset="0"/>
                <a:ea typeface="Verdana" pitchFamily="34" charset="-122"/>
                <a:cs typeface="Verdana" pitchFamily="34" charset="-120"/>
              </a:rPr>
              <a:t>second opinion</a:t>
            </a:r>
            <a:endParaRPr lang="en-US" sz="1050" dirty="0"/>
          </a:p>
        </p:txBody>
      </p:sp>
      <p:sp>
        <p:nvSpPr>
          <p:cNvPr id="20" name="Shape 18"/>
          <p:cNvSpPr/>
          <p:nvPr/>
        </p:nvSpPr>
        <p:spPr>
          <a:xfrm>
            <a:off x="4581144" y="4590288"/>
            <a:ext cx="3273552" cy="768096"/>
          </a:xfrm>
          <a:prstGeom prst="roundRect">
            <a:avLst>
              <a:gd name="adj" fmla="val 5952"/>
            </a:avLst>
          </a:prstGeom>
          <a:solidFill>
            <a:srgbClr val="DFF2F0"/>
          </a:solidFill>
          <a:ln/>
        </p:spPr>
      </p:sp>
      <p:sp>
        <p:nvSpPr>
          <p:cNvPr id="21" name="Text 19"/>
          <p:cNvSpPr txBox="1"/>
          <p:nvPr/>
        </p:nvSpPr>
        <p:spPr>
          <a:xfrm>
            <a:off x="4727448" y="4681728"/>
            <a:ext cx="2980944" cy="201168"/>
          </a:xfrm>
          <a:prstGeom prst="rect">
            <a:avLst/>
          </a:prstGeom>
          <a:noFill/>
          <a:ln/>
        </p:spPr>
        <p:txBody>
          <a:bodyPr wrap="square" lIns="0" tIns="0" rIns="0" bIns="0" rtlCol="0" anchor="t"/>
          <a:lstStyle/>
          <a:p>
            <a:pPr indent="0" marL="0">
              <a:buNone/>
            </a:pPr>
            <a:r>
              <a:rPr lang="en-US" sz="850" b="1" spc="120" kern="0" dirty="0">
                <a:solidFill>
                  <a:srgbClr val="0B6B63"/>
                </a:solidFill>
                <a:latin typeface="Verdana" pitchFamily="34" charset="0"/>
                <a:ea typeface="Verdana" pitchFamily="34" charset="-122"/>
                <a:cs typeface="Verdana" pitchFamily="34" charset="-120"/>
              </a:rPr>
              <a:t>WHERE THE HUMAN SITS</a:t>
            </a:r>
            <a:endParaRPr lang="en-US" sz="850" dirty="0"/>
          </a:p>
        </p:txBody>
      </p:sp>
      <p:sp>
        <p:nvSpPr>
          <p:cNvPr id="22" name="Text 20"/>
          <p:cNvSpPr txBox="1"/>
          <p:nvPr/>
        </p:nvSpPr>
        <p:spPr>
          <a:xfrm>
            <a:off x="4727448" y="4864608"/>
            <a:ext cx="2980944" cy="457200"/>
          </a:xfrm>
          <a:prstGeom prst="rect">
            <a:avLst/>
          </a:prstGeom>
          <a:noFill/>
          <a:ln/>
        </p:spPr>
        <p:txBody>
          <a:bodyPr wrap="square" lIns="0" tIns="0" rIns="0" bIns="0" rtlCol="0" anchor="t"/>
          <a:lstStyle/>
          <a:p>
            <a:pPr indent="0" marL="0">
              <a:lnSpc>
                <a:spcPts val="1250"/>
              </a:lnSpc>
              <a:buNone/>
            </a:pPr>
            <a:r>
              <a:rPr lang="en-US" sz="950" dirty="0">
                <a:solidFill>
                  <a:srgbClr val="000000"/>
                </a:solidFill>
                <a:latin typeface="Verdana" pitchFamily="34" charset="0"/>
                <a:ea typeface="Verdana" pitchFamily="34" charset="-122"/>
                <a:cs typeface="Verdana" pitchFamily="34" charset="-120"/>
              </a:rPr>
              <a:t>Engineers review intent, adjudicate the gap register, and author the most complex flows.</a:t>
            </a:r>
            <a:endParaRPr lang="en-US" sz="950" dirty="0"/>
          </a:p>
        </p:txBody>
      </p:sp>
      <p:sp>
        <p:nvSpPr>
          <p:cNvPr id="23" name="Shape 21"/>
          <p:cNvSpPr/>
          <p:nvPr/>
        </p:nvSpPr>
        <p:spPr>
          <a:xfrm>
            <a:off x="8284464" y="1664208"/>
            <a:ext cx="3602736" cy="3749040"/>
          </a:xfrm>
          <a:prstGeom prst="roundRect">
            <a:avLst>
              <a:gd name="adj" fmla="val 1269"/>
            </a:avLst>
          </a:prstGeom>
          <a:solidFill>
            <a:srgbClr val="F1F4F7"/>
          </a:solidFill>
          <a:ln/>
        </p:spPr>
      </p:sp>
      <p:sp>
        <p:nvSpPr>
          <p:cNvPr id="24" name="Shape 22"/>
          <p:cNvSpPr/>
          <p:nvPr/>
        </p:nvSpPr>
        <p:spPr>
          <a:xfrm>
            <a:off x="8558784" y="1865376"/>
            <a:ext cx="457200" cy="457200"/>
          </a:xfrm>
          <a:prstGeom prst="diamond">
            <a:avLst/>
          </a:prstGeom>
          <a:solidFill>
            <a:srgbClr val="1A5FB4"/>
          </a:solidFill>
          <a:ln/>
        </p:spPr>
      </p:sp>
      <p:sp>
        <p:nvSpPr>
          <p:cNvPr id="25" name="Text 23"/>
          <p:cNvSpPr txBox="1"/>
          <p:nvPr/>
        </p:nvSpPr>
        <p:spPr>
          <a:xfrm>
            <a:off x="8558784" y="1865376"/>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Verdana" pitchFamily="34" charset="0"/>
                <a:ea typeface="Verdana" pitchFamily="34" charset="-122"/>
                <a:cs typeface="Verdana" pitchFamily="34" charset="-120"/>
              </a:rPr>
              <a:t>3</a:t>
            </a:r>
            <a:endParaRPr lang="en-US" sz="1100" dirty="0"/>
          </a:p>
        </p:txBody>
      </p:sp>
      <p:sp>
        <p:nvSpPr>
          <p:cNvPr id="26" name="Text 24"/>
          <p:cNvSpPr txBox="1"/>
          <p:nvPr/>
        </p:nvSpPr>
        <p:spPr>
          <a:xfrm>
            <a:off x="8558784" y="2432304"/>
            <a:ext cx="3054096" cy="457200"/>
          </a:xfrm>
          <a:prstGeom prst="rect">
            <a:avLst/>
          </a:prstGeom>
          <a:noFill/>
          <a:ln/>
        </p:spPr>
        <p:txBody>
          <a:bodyPr wrap="square" lIns="0" tIns="0" rIns="0" bIns="0" rtlCol="0" anchor="t"/>
          <a:lstStyle/>
          <a:p>
            <a:pPr indent="0" marL="0">
              <a:buNone/>
            </a:pPr>
            <a:r>
              <a:rPr lang="en-US" sz="1200" b="1" dirty="0">
                <a:solidFill>
                  <a:srgbClr val="1A5FB4"/>
                </a:solidFill>
                <a:latin typeface="Verdana" pitchFamily="34" charset="0"/>
                <a:ea typeface="Verdana" pitchFamily="34" charset="-122"/>
                <a:cs typeface="Verdana" pitchFamily="34" charset="-120"/>
              </a:rPr>
              <a:t>PRODUCES THE PROOF</a:t>
            </a:r>
            <a:endParaRPr lang="en-US" sz="1200" dirty="0"/>
          </a:p>
        </p:txBody>
      </p:sp>
      <p:sp>
        <p:nvSpPr>
          <p:cNvPr id="27" name="Text 25"/>
          <p:cNvSpPr txBox="1"/>
          <p:nvPr/>
        </p:nvSpPr>
        <p:spPr>
          <a:xfrm>
            <a:off x="8558784" y="2889504"/>
            <a:ext cx="3054096" cy="1664208"/>
          </a:xfrm>
          <a:prstGeom prst="rect">
            <a:avLst/>
          </a:prstGeom>
          <a:noFill/>
          <a:ln/>
        </p:spPr>
        <p:txBody>
          <a:bodyPr wrap="square" lIns="0" tIns="0" rIns="0" bIns="0" rtlCol="0" anchor="t"/>
          <a:lstStyle/>
          <a:p>
            <a:pPr marL="190500" indent="-190500">
              <a:lnSpc>
                <a:spcPts val="1500"/>
              </a:lnSpc>
              <a:spcAft>
                <a:spcPts val="700"/>
              </a:spcAft>
              <a:buSzPct val="100000"/>
              <a:buChar char="•"/>
            </a:pPr>
            <a:r>
              <a:rPr lang="en-US" sz="1050" dirty="0">
                <a:solidFill>
                  <a:srgbClr val="000000"/>
                </a:solidFill>
                <a:latin typeface="Verdana" pitchFamily="34" charset="0"/>
                <a:ea typeface="Verdana" pitchFamily="34" charset="-122"/>
                <a:cs typeface="Verdana" pitchFamily="34" charset="-120"/>
              </a:rPr>
              <a:t>A comparable record shows </a:t>
            </a:r>
            <a:r>
              <a:rPr lang="en-US" sz="1050" b="1" dirty="0">
                <a:solidFill>
                  <a:srgbClr val="000000"/>
                </a:solidFill>
                <a:latin typeface="Verdana" pitchFamily="34" charset="0"/>
                <a:ea typeface="Verdana" pitchFamily="34" charset="-122"/>
                <a:cs typeface="Verdana" pitchFamily="34" charset="-120"/>
              </a:rPr>
              <a:t>what each test establishes</a:t>
            </a:r>
            <a:endParaRPr lang="en-US" sz="1050" dirty="0"/>
          </a:p>
          <a:p>
            <a:pPr marL="190500" indent="-190500">
              <a:lnSpc>
                <a:spcPts val="1500"/>
              </a:lnSpc>
              <a:spcAft>
                <a:spcPts val="700"/>
              </a:spcAft>
              <a:buSzPct val="100000"/>
              <a:buChar char="•"/>
            </a:pPr>
            <a:r>
              <a:rPr lang="en-US" sz="1050" dirty="0">
                <a:solidFill>
                  <a:srgbClr val="000000"/>
                </a:solidFill>
                <a:latin typeface="Verdana" pitchFamily="34" charset="0"/>
                <a:ea typeface="Verdana" pitchFamily="34" charset="-122"/>
                <a:cs typeface="Verdana" pitchFamily="34" charset="-120"/>
              </a:rPr>
              <a:t>Duplication across the estate becomes </a:t>
            </a:r>
            <a:r>
              <a:rPr lang="en-US" sz="1050" b="1" dirty="0">
                <a:solidFill>
                  <a:srgbClr val="000000"/>
                </a:solidFill>
                <a:latin typeface="Verdana" pitchFamily="34" charset="0"/>
                <a:ea typeface="Verdana" pitchFamily="34" charset="-122"/>
                <a:cs typeface="Verdana" pitchFamily="34" charset="-120"/>
              </a:rPr>
              <a:t>visible</a:t>
            </a:r>
            <a:endParaRPr lang="en-US" sz="1050" dirty="0"/>
          </a:p>
          <a:p>
            <a:pPr marL="190500" indent="-190500">
              <a:lnSpc>
                <a:spcPts val="1500"/>
              </a:lnSpc>
              <a:spcAft>
                <a:spcPts val="700"/>
              </a:spcAft>
              <a:buSzPct val="100000"/>
              <a:buChar char="•"/>
            </a:pPr>
            <a:r>
              <a:rPr lang="en-US" sz="1050" dirty="0">
                <a:solidFill>
                  <a:srgbClr val="000000"/>
                </a:solidFill>
                <a:latin typeface="Verdana" pitchFamily="34" charset="0"/>
                <a:ea typeface="Verdana" pitchFamily="34" charset="-122"/>
                <a:cs typeface="Verdana" pitchFamily="34" charset="-120"/>
              </a:rPr>
              <a:t>Sign-off rests on </a:t>
            </a:r>
            <a:r>
              <a:rPr lang="en-US" sz="1050" b="1" dirty="0">
                <a:solidFill>
                  <a:srgbClr val="000000"/>
                </a:solidFill>
                <a:latin typeface="Verdana" pitchFamily="34" charset="0"/>
                <a:ea typeface="Verdana" pitchFamily="34" charset="-122"/>
                <a:cs typeface="Verdana" pitchFamily="34" charset="-120"/>
              </a:rPr>
              <a:t>reconciliation evidence</a:t>
            </a:r>
            <a:endParaRPr lang="en-US" sz="1050" dirty="0"/>
          </a:p>
        </p:txBody>
      </p:sp>
      <p:sp>
        <p:nvSpPr>
          <p:cNvPr id="28" name="Shape 26"/>
          <p:cNvSpPr/>
          <p:nvPr/>
        </p:nvSpPr>
        <p:spPr>
          <a:xfrm>
            <a:off x="8449056" y="4590288"/>
            <a:ext cx="3273552" cy="768096"/>
          </a:xfrm>
          <a:prstGeom prst="roundRect">
            <a:avLst>
              <a:gd name="adj" fmla="val 5952"/>
            </a:avLst>
          </a:prstGeom>
          <a:solidFill>
            <a:srgbClr val="DFF2F0"/>
          </a:solidFill>
          <a:ln/>
        </p:spPr>
      </p:sp>
      <p:sp>
        <p:nvSpPr>
          <p:cNvPr id="29" name="Text 27"/>
          <p:cNvSpPr txBox="1"/>
          <p:nvPr/>
        </p:nvSpPr>
        <p:spPr>
          <a:xfrm>
            <a:off x="8595360" y="4681728"/>
            <a:ext cx="2980944" cy="201168"/>
          </a:xfrm>
          <a:prstGeom prst="rect">
            <a:avLst/>
          </a:prstGeom>
          <a:noFill/>
          <a:ln/>
        </p:spPr>
        <p:txBody>
          <a:bodyPr wrap="square" lIns="0" tIns="0" rIns="0" bIns="0" rtlCol="0" anchor="t"/>
          <a:lstStyle/>
          <a:p>
            <a:pPr indent="0" marL="0">
              <a:buNone/>
            </a:pPr>
            <a:r>
              <a:rPr lang="en-US" sz="850" b="1" spc="120" kern="0" dirty="0">
                <a:solidFill>
                  <a:srgbClr val="0B6B63"/>
                </a:solidFill>
                <a:latin typeface="Verdana" pitchFamily="34" charset="0"/>
                <a:ea typeface="Verdana" pitchFamily="34" charset="-122"/>
                <a:cs typeface="Verdana" pitchFamily="34" charset="-120"/>
              </a:rPr>
              <a:t>WHERE THE HUMAN SITS</a:t>
            </a:r>
            <a:endParaRPr lang="en-US" sz="850" dirty="0"/>
          </a:p>
        </p:txBody>
      </p:sp>
      <p:sp>
        <p:nvSpPr>
          <p:cNvPr id="30" name="Text 28"/>
          <p:cNvSpPr txBox="1"/>
          <p:nvPr/>
        </p:nvSpPr>
        <p:spPr>
          <a:xfrm>
            <a:off x="8595360" y="4864608"/>
            <a:ext cx="2980944" cy="457200"/>
          </a:xfrm>
          <a:prstGeom prst="rect">
            <a:avLst/>
          </a:prstGeom>
          <a:noFill/>
          <a:ln/>
        </p:spPr>
        <p:txBody>
          <a:bodyPr wrap="square" lIns="0" tIns="0" rIns="0" bIns="0" rtlCol="0" anchor="t"/>
          <a:lstStyle/>
          <a:p>
            <a:pPr indent="0" marL="0">
              <a:lnSpc>
                <a:spcPts val="1250"/>
              </a:lnSpc>
              <a:buNone/>
            </a:pPr>
            <a:r>
              <a:rPr lang="en-US" sz="950" dirty="0">
                <a:solidFill>
                  <a:srgbClr val="000000"/>
                </a:solidFill>
                <a:latin typeface="Verdana" pitchFamily="34" charset="0"/>
                <a:ea typeface="Verdana" pitchFamily="34" charset="-122"/>
                <a:cs typeface="Verdana" pitchFamily="34" charset="-120"/>
              </a:rPr>
              <a:t>Adoption follows reconciliation of the legacy and target suites on one build.</a:t>
            </a:r>
            <a:endParaRPr lang="en-US" sz="950" dirty="0"/>
          </a:p>
        </p:txBody>
      </p:sp>
      <p:sp>
        <p:nvSpPr>
          <p:cNvPr id="31" name="Shape 29"/>
          <p:cNvSpPr/>
          <p:nvPr/>
        </p:nvSpPr>
        <p:spPr>
          <a:xfrm>
            <a:off x="548640" y="5504688"/>
            <a:ext cx="11064240" cy="950976"/>
          </a:xfrm>
          <a:prstGeom prst="roundRect">
            <a:avLst>
              <a:gd name="adj" fmla="val 4808"/>
            </a:avLst>
          </a:prstGeom>
          <a:solidFill>
            <a:srgbClr val="1A5FB4"/>
          </a:solidFill>
          <a:ln/>
        </p:spPr>
      </p:sp>
      <p:sp>
        <p:nvSpPr>
          <p:cNvPr id="32" name="Text 30"/>
          <p:cNvSpPr txBox="1"/>
          <p:nvPr/>
        </p:nvSpPr>
        <p:spPr>
          <a:xfrm>
            <a:off x="859536" y="5614416"/>
            <a:ext cx="10442448" cy="731520"/>
          </a:xfrm>
          <a:prstGeom prst="rect">
            <a:avLst/>
          </a:prstGeom>
          <a:noFill/>
          <a:ln/>
        </p:spPr>
        <p:txBody>
          <a:bodyPr wrap="square" lIns="0" tIns="0" rIns="0" bIns="0" rtlCol="0" anchor="ctr"/>
          <a:lstStyle/>
          <a:p>
            <a:pPr indent="0" marL="0">
              <a:lnSpc>
                <a:spcPts val="1700"/>
              </a:lnSpc>
              <a:buNone/>
            </a:pPr>
            <a:r>
              <a:rPr lang="en-US" sz="1150" b="1" dirty="0">
                <a:solidFill>
                  <a:srgbClr val="FFFFFF"/>
                </a:solidFill>
                <a:latin typeface="Verdana" pitchFamily="34" charset="0"/>
                <a:ea typeface="Verdana" pitchFamily="34" charset="-122"/>
                <a:cs typeface="Verdana" pitchFamily="34" charset="-120"/>
              </a:rPr>
              <a:t>The intent layer stays platform-neutral</a:t>
            </a:r>
            <a:r>
              <a:rPr lang="en-US" sz="1150" dirty="0">
                <a:solidFill>
                  <a:srgbClr val="FFFFFF"/>
                </a:solidFill>
                <a:latin typeface="Verdana" pitchFamily="34" charset="0"/>
                <a:ea typeface="Verdana" pitchFamily="34" charset="-122"/>
                <a:cs typeface="Verdana" pitchFamily="34" charset="-120"/>
              </a:rPr>
              <a:t>, so the next platform decision becomes a regeneration exercise.    </a:t>
            </a:r>
            <a:r>
              <a:rPr lang="en-US" sz="1150" b="1" dirty="0">
                <a:solidFill>
                  <a:srgbClr val="FFFFFF"/>
                </a:solidFill>
                <a:latin typeface="Verdana" pitchFamily="34" charset="0"/>
                <a:ea typeface="Verdana" pitchFamily="34" charset="-122"/>
                <a:cs typeface="Verdana" pitchFamily="34" charset="-120"/>
              </a:rPr>
              <a:t>Team size holds</a:t>
            </a:r>
            <a:r>
              <a:rPr lang="en-US" sz="1150" dirty="0">
                <a:solidFill>
                  <a:srgbClr val="FFFFFF"/>
                </a:solidFill>
                <a:latin typeface="Verdana" pitchFamily="34" charset="0"/>
                <a:ea typeface="Verdana" pitchFamily="34" charset="-122"/>
                <a:cs typeface="Verdana" pitchFamily="34" charset="-120"/>
              </a:rPr>
              <a:t>: engineers are needed in greater number while the work runs, and they learn the target framework against code built from their own tests.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37744"/>
          </a:xfrm>
          <a:prstGeom prst="rect">
            <a:avLst/>
          </a:prstGeom>
          <a:noFill/>
          <a:ln/>
        </p:spPr>
        <p:txBody>
          <a:bodyPr wrap="square" lIns="0" tIns="0" rIns="0" bIns="0" rtlCol="0" anchor="t"/>
          <a:lstStyle/>
          <a:p>
            <a:pPr indent="0" marL="0">
              <a:buNone/>
            </a:pPr>
            <a:r>
              <a:rPr lang="en-US" sz="1000" b="1" spc="180" kern="0" dirty="0">
                <a:solidFill>
                  <a:srgbClr val="17A398"/>
                </a:solidFill>
                <a:latin typeface="Verdana" pitchFamily="34" charset="0"/>
                <a:ea typeface="Verdana" pitchFamily="34" charset="-122"/>
                <a:cs typeface="Verdana" pitchFamily="34" charset="-120"/>
              </a:rPr>
              <a:t>DE-RISKING THE MIGRATION</a:t>
            </a:r>
            <a:endParaRPr lang="en-US" sz="1000" dirty="0"/>
          </a:p>
        </p:txBody>
      </p:sp>
      <p:sp>
        <p:nvSpPr>
          <p:cNvPr id="3" name="Text 1"/>
          <p:cNvSpPr txBox="1"/>
          <p:nvPr/>
        </p:nvSpPr>
        <p:spPr>
          <a:xfrm>
            <a:off x="548640" y="585216"/>
            <a:ext cx="6400800" cy="543154"/>
          </a:xfrm>
          <a:prstGeom prst="rect">
            <a:avLst/>
          </a:prstGeom>
          <a:noFill/>
          <a:ln/>
        </p:spPr>
        <p:txBody>
          <a:bodyPr wrap="square" lIns="0" tIns="0" rIns="0" bIns="0" rtlCol="0" anchor="t"/>
          <a:lstStyle/>
          <a:p>
            <a:pPr indent="0" marL="0">
              <a:buNone/>
            </a:pPr>
            <a:r>
              <a:rPr lang="en-US" sz="1900" b="1" dirty="0">
                <a:solidFill>
                  <a:srgbClr val="000000"/>
                </a:solidFill>
                <a:latin typeface="Verdana" pitchFamily="34" charset="0"/>
                <a:ea typeface="Verdana" pitchFamily="34" charset="-122"/>
                <a:cs typeface="Verdana" pitchFamily="34" charset="-120"/>
              </a:rPr>
              <a:t>TEST DATA, AND WHERE</a:t>
            </a:r>
            <a:endParaRPr lang="en-US" sz="1900" dirty="0"/>
          </a:p>
        </p:txBody>
      </p:sp>
      <p:sp>
        <p:nvSpPr>
          <p:cNvPr id="4" name="Text 2"/>
          <p:cNvSpPr txBox="1"/>
          <p:nvPr/>
        </p:nvSpPr>
        <p:spPr>
          <a:xfrm>
            <a:off x="548640" y="952348"/>
            <a:ext cx="6400800" cy="543154"/>
          </a:xfrm>
          <a:prstGeom prst="rect">
            <a:avLst/>
          </a:prstGeom>
          <a:noFill/>
          <a:ln/>
        </p:spPr>
        <p:txBody>
          <a:bodyPr wrap="square" lIns="0" tIns="0" rIns="0" bIns="0" rtlCol="0" anchor="t"/>
          <a:lstStyle/>
          <a:p>
            <a:pPr indent="0" marL="0">
              <a:buNone/>
            </a:pPr>
            <a:r>
              <a:rPr lang="en-US" sz="1900" b="1" dirty="0">
                <a:solidFill>
                  <a:srgbClr val="1A5FB4"/>
                </a:solidFill>
                <a:latin typeface="Verdana" pitchFamily="34" charset="0"/>
                <a:ea typeface="Verdana" pitchFamily="34" charset="-122"/>
                <a:cs typeface="Verdana" pitchFamily="34" charset="-120"/>
              </a:rPr>
              <a:t>THIS CAN BREAK</a:t>
            </a:r>
            <a:endParaRPr lang="en-US" sz="1900" dirty="0"/>
          </a:p>
        </p:txBody>
      </p:sp>
      <p:sp>
        <p:nvSpPr>
          <p:cNvPr id="5" name="Shape 3"/>
          <p:cNvSpPr/>
          <p:nvPr/>
        </p:nvSpPr>
        <p:spPr>
          <a:xfrm>
            <a:off x="548640" y="1682496"/>
            <a:ext cx="5349240" cy="3913632"/>
          </a:xfrm>
          <a:prstGeom prst="roundRect">
            <a:avLst>
              <a:gd name="adj" fmla="val 1168"/>
            </a:avLst>
          </a:prstGeom>
          <a:solidFill>
            <a:srgbClr val="F1F4F7"/>
          </a:solidFill>
          <a:ln/>
        </p:spPr>
      </p:sp>
      <p:sp>
        <p:nvSpPr>
          <p:cNvPr id="6" name="Shape 4"/>
          <p:cNvSpPr/>
          <p:nvPr/>
        </p:nvSpPr>
        <p:spPr>
          <a:xfrm>
            <a:off x="804672" y="1865376"/>
            <a:ext cx="3383280" cy="310896"/>
          </a:xfrm>
          <a:prstGeom prst="roundRect">
            <a:avLst>
              <a:gd name="adj" fmla="val 14706"/>
            </a:avLst>
          </a:prstGeom>
          <a:solidFill>
            <a:srgbClr val="17A398"/>
          </a:solidFill>
          <a:ln/>
        </p:spPr>
      </p:sp>
      <p:sp>
        <p:nvSpPr>
          <p:cNvPr id="7" name="Text 5"/>
          <p:cNvSpPr txBox="1"/>
          <p:nvPr/>
        </p:nvSpPr>
        <p:spPr>
          <a:xfrm>
            <a:off x="804672" y="1865376"/>
            <a:ext cx="3383280" cy="310896"/>
          </a:xfrm>
          <a:prstGeom prst="rect">
            <a:avLst/>
          </a:prstGeom>
          <a:noFill/>
          <a:ln/>
        </p:spPr>
        <p:txBody>
          <a:bodyPr wrap="square" lIns="0" tIns="0" rIns="0" bIns="0" rtlCol="0" anchor="ctr"/>
          <a:lstStyle/>
          <a:p>
            <a:pPr algn="ctr" indent="0" marL="0">
              <a:buNone/>
            </a:pPr>
            <a:r>
              <a:rPr lang="en-US" sz="950" b="1" spc="80" kern="0" dirty="0">
                <a:solidFill>
                  <a:srgbClr val="FFFFFF"/>
                </a:solidFill>
                <a:latin typeface="Verdana" pitchFamily="34" charset="0"/>
                <a:ea typeface="Verdana" pitchFamily="34" charset="-122"/>
                <a:cs typeface="Verdana" pitchFamily="34" charset="-120"/>
              </a:rPr>
              <a:t>TEST DATA — THE APPROACH</a:t>
            </a:r>
            <a:endParaRPr lang="en-US" sz="950" dirty="0"/>
          </a:p>
        </p:txBody>
      </p:sp>
      <p:sp>
        <p:nvSpPr>
          <p:cNvPr id="8" name="Text 6"/>
          <p:cNvSpPr txBox="1"/>
          <p:nvPr/>
        </p:nvSpPr>
        <p:spPr>
          <a:xfrm>
            <a:off x="822960" y="2377440"/>
            <a:ext cx="4800600" cy="3145536"/>
          </a:xfrm>
          <a:prstGeom prst="rect">
            <a:avLst/>
          </a:prstGeom>
          <a:noFill/>
          <a:ln/>
        </p:spPr>
        <p:txBody>
          <a:bodyPr wrap="square" lIns="0" tIns="0" rIns="0" bIns="0" rtlCol="0" anchor="t"/>
          <a:lstStyle/>
          <a:p>
            <a:pPr marL="190500" indent="-190500">
              <a:lnSpc>
                <a:spcPts val="1700"/>
              </a:lnSpc>
              <a:spcAft>
                <a:spcPts val="1000"/>
              </a:spcAft>
              <a:buSzPct val="100000"/>
              <a:buChar char="•"/>
            </a:pPr>
            <a:r>
              <a:rPr lang="en-US" sz="1150" dirty="0">
                <a:solidFill>
                  <a:srgbClr val="000000"/>
                </a:solidFill>
                <a:latin typeface="Verdana" pitchFamily="34" charset="0"/>
                <a:ea typeface="Verdana" pitchFamily="34" charset="-122"/>
                <a:cs typeface="Verdana" pitchFamily="34" charset="-120"/>
              </a:rPr>
              <a:t>Your </a:t>
            </a:r>
            <a:r>
              <a:rPr lang="en-US" sz="1150" b="1" dirty="0">
                <a:solidFill>
                  <a:srgbClr val="000000"/>
                </a:solidFill>
                <a:latin typeface="Verdana" pitchFamily="34" charset="0"/>
                <a:ea typeface="Verdana" pitchFamily="34" charset="-122"/>
                <a:cs typeface="Verdana" pitchFamily="34" charset="-120"/>
              </a:rPr>
              <a:t>TDM sets, fixtures and masked extracts</a:t>
            </a:r>
            <a:r>
              <a:rPr lang="en-US" sz="1150" dirty="0">
                <a:solidFill>
                  <a:srgbClr val="000000"/>
                </a:solidFill>
                <a:latin typeface="Verdana" pitchFamily="34" charset="0"/>
                <a:ea typeface="Verdana" pitchFamily="34" charset="-122"/>
                <a:cs typeface="Verdana" pitchFamily="34" charset="-120"/>
              </a:rPr>
              <a:t> remain the source of data throughout.</a:t>
            </a:r>
            <a:endParaRPr lang="en-US" sz="1150" dirty="0"/>
          </a:p>
          <a:p>
            <a:pPr marL="190500" indent="-190500">
              <a:lnSpc>
                <a:spcPts val="1700"/>
              </a:lnSpc>
              <a:spcAft>
                <a:spcPts val="1000"/>
              </a:spcAft>
              <a:buSzPct val="100000"/>
              <a:buChar char="•"/>
            </a:pPr>
            <a:r>
              <a:rPr lang="en-US" sz="1150" dirty="0">
                <a:solidFill>
                  <a:srgbClr val="000000"/>
                </a:solidFill>
                <a:latin typeface="Verdana" pitchFamily="34" charset="0"/>
                <a:ea typeface="Verdana" pitchFamily="34" charset="-122"/>
                <a:cs typeface="Verdana" pitchFamily="34" charset="-120"/>
              </a:rPr>
              <a:t>The agent records a </a:t>
            </a:r>
            <a:r>
              <a:rPr lang="en-US" sz="1150" b="1" dirty="0">
                <a:solidFill>
                  <a:srgbClr val="000000"/>
                </a:solidFill>
                <a:latin typeface="Verdana" pitchFamily="34" charset="0"/>
                <a:ea typeface="Verdana" pitchFamily="34" charset="-122"/>
                <a:cs typeface="Verdana" pitchFamily="34" charset="-120"/>
              </a:rPr>
              <a:t>data contract</a:t>
            </a:r>
            <a:r>
              <a:rPr lang="en-US" sz="1150" dirty="0">
                <a:solidFill>
                  <a:srgbClr val="000000"/>
                </a:solidFill>
                <a:latin typeface="Verdana" pitchFamily="34" charset="0"/>
                <a:ea typeface="Verdana" pitchFamily="34" charset="-122"/>
                <a:cs typeface="Verdana" pitchFamily="34" charset="-120"/>
              </a:rPr>
              <a:t> per test: the state that test requires in order to run.</a:t>
            </a:r>
            <a:endParaRPr lang="en-US" sz="1150" dirty="0"/>
          </a:p>
          <a:p>
            <a:pPr marL="190500" indent="-190500">
              <a:lnSpc>
                <a:spcPts val="1700"/>
              </a:lnSpc>
              <a:spcAft>
                <a:spcPts val="1000"/>
              </a:spcAft>
              <a:buSzPct val="100000"/>
              <a:buChar char="•"/>
            </a:pPr>
            <a:r>
              <a:rPr lang="en-US" sz="1150" dirty="0">
                <a:solidFill>
                  <a:srgbClr val="000000"/>
                </a:solidFill>
                <a:latin typeface="Verdana" pitchFamily="34" charset="0"/>
                <a:ea typeface="Verdana" pitchFamily="34" charset="-122"/>
                <a:cs typeface="Verdana" pitchFamily="34" charset="-120"/>
              </a:rPr>
              <a:t>The target suite requests that state from a </a:t>
            </a:r>
            <a:r>
              <a:rPr lang="en-US" sz="1150" b="1" dirty="0">
                <a:solidFill>
                  <a:srgbClr val="000000"/>
                </a:solidFill>
                <a:latin typeface="Verdana" pitchFamily="34" charset="0"/>
                <a:ea typeface="Verdana" pitchFamily="34" charset="-122"/>
                <a:cs typeface="Verdana" pitchFamily="34" charset="-120"/>
              </a:rPr>
              <a:t>provisioning layer</a:t>
            </a:r>
            <a:r>
              <a:rPr lang="en-US" sz="1150" dirty="0">
                <a:solidFill>
                  <a:srgbClr val="000000"/>
                </a:solidFill>
                <a:latin typeface="Verdana" pitchFamily="34" charset="0"/>
                <a:ea typeface="Verdana" pitchFamily="34" charset="-122"/>
                <a:cs typeface="Verdana" pitchFamily="34" charset="-120"/>
              </a:rPr>
              <a:t> at run time.</a:t>
            </a:r>
            <a:endParaRPr lang="en-US" sz="1150" dirty="0"/>
          </a:p>
          <a:p>
            <a:pPr marL="190500" indent="-190500">
              <a:lnSpc>
                <a:spcPts val="1700"/>
              </a:lnSpc>
              <a:spcAft>
                <a:spcPts val="1000"/>
              </a:spcAft>
              <a:buSzPct val="100000"/>
              <a:buChar char="•"/>
            </a:pPr>
            <a:r>
              <a:rPr lang="en-US" sz="1150" dirty="0">
                <a:solidFill>
                  <a:srgbClr val="000000"/>
                </a:solidFill>
                <a:latin typeface="Verdana" pitchFamily="34" charset="0"/>
                <a:ea typeface="Verdana" pitchFamily="34" charset="-122"/>
                <a:cs typeface="Verdana" pitchFamily="34" charset="-120"/>
              </a:rPr>
              <a:t>Scripts bound to a </a:t>
            </a:r>
            <a:r>
              <a:rPr lang="en-US" sz="1150" b="1" dirty="0">
                <a:solidFill>
                  <a:srgbClr val="000000"/>
                </a:solidFill>
                <a:latin typeface="Verdana" pitchFamily="34" charset="0"/>
                <a:ea typeface="Verdana" pitchFamily="34" charset="-122"/>
                <a:cs typeface="Verdana" pitchFamily="34" charset="-120"/>
              </a:rPr>
              <a:t>specific record</a:t>
            </a:r>
            <a:r>
              <a:rPr lang="en-US" sz="1150" dirty="0">
                <a:solidFill>
                  <a:srgbClr val="000000"/>
                </a:solidFill>
                <a:latin typeface="Verdana" pitchFamily="34" charset="0"/>
                <a:ea typeface="Verdana" pitchFamily="34" charset="-122"/>
                <a:cs typeface="Verdana" pitchFamily="34" charset="-120"/>
              </a:rPr>
              <a:t> are raised for redesign and listed in the gap register.</a:t>
            </a:r>
            <a:endParaRPr lang="en-US" sz="1150" dirty="0"/>
          </a:p>
          <a:p>
            <a:pPr marL="190500" indent="-190500">
              <a:lnSpc>
                <a:spcPts val="1700"/>
              </a:lnSpc>
              <a:spcAft>
                <a:spcPts val="1000"/>
              </a:spcAft>
              <a:buSzPct val="100000"/>
              <a:buChar char="•"/>
            </a:pPr>
            <a:r>
              <a:rPr lang="en-US" sz="1150" dirty="0">
                <a:solidFill>
                  <a:srgbClr val="000000"/>
                </a:solidFill>
                <a:latin typeface="Verdana" pitchFamily="34" charset="0"/>
                <a:ea typeface="Verdana" pitchFamily="34" charset="-122"/>
                <a:cs typeface="Verdana" pitchFamily="34" charset="-120"/>
              </a:rPr>
              <a:t>Manual cases usually document the </a:t>
            </a:r>
            <a:r>
              <a:rPr lang="en-US" sz="1150" b="1" dirty="0">
                <a:solidFill>
                  <a:srgbClr val="000000"/>
                </a:solidFill>
                <a:latin typeface="Verdana" pitchFamily="34" charset="0"/>
                <a:ea typeface="Verdana" pitchFamily="34" charset="-122"/>
                <a:cs typeface="Verdana" pitchFamily="34" charset="-120"/>
              </a:rPr>
              <a:t>preconditions</a:t>
            </a:r>
            <a:r>
              <a:rPr lang="en-US" sz="1150" dirty="0">
                <a:solidFill>
                  <a:srgbClr val="000000"/>
                </a:solidFill>
                <a:latin typeface="Verdana" pitchFamily="34" charset="0"/>
                <a:ea typeface="Verdana" pitchFamily="34" charset="-122"/>
                <a:cs typeface="Verdana" pitchFamily="34" charset="-120"/>
              </a:rPr>
              <a:t> the original script omitted, which is why they matter here.</a:t>
            </a:r>
            <a:endParaRPr lang="en-US" sz="1150" dirty="0"/>
          </a:p>
        </p:txBody>
      </p:sp>
      <p:sp>
        <p:nvSpPr>
          <p:cNvPr id="9" name="Shape 7"/>
          <p:cNvSpPr/>
          <p:nvPr/>
        </p:nvSpPr>
        <p:spPr>
          <a:xfrm>
            <a:off x="6263640" y="1682496"/>
            <a:ext cx="5349240" cy="3913632"/>
          </a:xfrm>
          <a:prstGeom prst="roundRect">
            <a:avLst>
              <a:gd name="adj" fmla="val 1168"/>
            </a:avLst>
          </a:prstGeom>
          <a:solidFill>
            <a:srgbClr val="F1F4F7"/>
          </a:solidFill>
          <a:ln/>
        </p:spPr>
      </p:sp>
      <p:sp>
        <p:nvSpPr>
          <p:cNvPr id="10" name="Shape 8"/>
          <p:cNvSpPr/>
          <p:nvPr/>
        </p:nvSpPr>
        <p:spPr>
          <a:xfrm>
            <a:off x="6519672" y="1865376"/>
            <a:ext cx="4480560" cy="310896"/>
          </a:xfrm>
          <a:prstGeom prst="roundRect">
            <a:avLst>
              <a:gd name="adj" fmla="val 14706"/>
            </a:avLst>
          </a:prstGeom>
          <a:solidFill>
            <a:srgbClr val="12447F"/>
          </a:solidFill>
          <a:ln/>
        </p:spPr>
      </p:sp>
      <p:sp>
        <p:nvSpPr>
          <p:cNvPr id="11" name="Text 9"/>
          <p:cNvSpPr txBox="1"/>
          <p:nvPr/>
        </p:nvSpPr>
        <p:spPr>
          <a:xfrm>
            <a:off x="6519672" y="1865376"/>
            <a:ext cx="4480560" cy="310896"/>
          </a:xfrm>
          <a:prstGeom prst="rect">
            <a:avLst/>
          </a:prstGeom>
          <a:noFill/>
          <a:ln/>
        </p:spPr>
        <p:txBody>
          <a:bodyPr wrap="square" lIns="0" tIns="0" rIns="0" bIns="0" rtlCol="0" anchor="ctr"/>
          <a:lstStyle/>
          <a:p>
            <a:pPr algn="ctr" indent="0" marL="0">
              <a:buNone/>
            </a:pPr>
            <a:r>
              <a:rPr lang="en-US" sz="950" b="1" spc="80" kern="0" dirty="0">
                <a:solidFill>
                  <a:srgbClr val="FFFFFF"/>
                </a:solidFill>
                <a:latin typeface="Verdana" pitchFamily="34" charset="0"/>
                <a:ea typeface="Verdana" pitchFamily="34" charset="-122"/>
                <a:cs typeface="Verdana" pitchFamily="34" charset="-120"/>
              </a:rPr>
              <a:t>WHERE THIS CAN BREAK — AND THE CONTROL</a:t>
            </a:r>
            <a:endParaRPr lang="en-US" sz="950" dirty="0"/>
          </a:p>
        </p:txBody>
      </p:sp>
      <p:sp>
        <p:nvSpPr>
          <p:cNvPr id="12" name="Text 10"/>
          <p:cNvSpPr txBox="1"/>
          <p:nvPr/>
        </p:nvSpPr>
        <p:spPr>
          <a:xfrm>
            <a:off x="6537960" y="2377440"/>
            <a:ext cx="4800600" cy="3145536"/>
          </a:xfrm>
          <a:prstGeom prst="rect">
            <a:avLst/>
          </a:prstGeom>
          <a:noFill/>
          <a:ln/>
        </p:spPr>
        <p:txBody>
          <a:bodyPr wrap="square" lIns="0" tIns="0" rIns="0" bIns="0" rtlCol="0" anchor="t"/>
          <a:lstStyle/>
          <a:p>
            <a:pPr marL="190500" indent="-190500">
              <a:lnSpc>
                <a:spcPts val="1700"/>
              </a:lnSpc>
              <a:spcAft>
                <a:spcPts val="1000"/>
              </a:spcAft>
              <a:buSzPct val="100000"/>
              <a:buChar char="•"/>
            </a:pPr>
            <a:r>
              <a:rPr lang="en-US" sz="1150" b="1" dirty="0">
                <a:solidFill>
                  <a:srgbClr val="000000"/>
                </a:solidFill>
                <a:latin typeface="Verdana" pitchFamily="34" charset="0"/>
                <a:ea typeface="Verdana" pitchFamily="34" charset="-122"/>
                <a:cs typeface="Verdana" pitchFamily="34" charset="-120"/>
              </a:rPr>
              <a:t>Locked repositories.</a:t>
            </a:r>
            <a:r>
              <a:rPr lang="en-US" sz="1150" dirty="0">
                <a:solidFill>
                  <a:srgbClr val="000000"/>
                </a:solidFill>
                <a:latin typeface="Verdana" pitchFamily="34" charset="0"/>
                <a:ea typeface="Verdana" pitchFamily="34" charset="-122"/>
                <a:cs typeface="Verdana" pitchFamily="34" charset="-120"/>
              </a:rPr>
              <a:t> Export access is confirmed in week one, ahead of any commitment.</a:t>
            </a:r>
            <a:endParaRPr lang="en-US" sz="1150" dirty="0"/>
          </a:p>
          <a:p>
            <a:pPr marL="190500" indent="-190500">
              <a:lnSpc>
                <a:spcPts val="1700"/>
              </a:lnSpc>
              <a:spcAft>
                <a:spcPts val="1000"/>
              </a:spcAft>
              <a:buSzPct val="100000"/>
              <a:buChar char="•"/>
            </a:pPr>
            <a:r>
              <a:rPr lang="en-US" sz="1150" b="1" dirty="0">
                <a:solidFill>
                  <a:srgbClr val="000000"/>
                </a:solidFill>
                <a:latin typeface="Verdana" pitchFamily="34" charset="0"/>
                <a:ea typeface="Verdana" pitchFamily="34" charset="-122"/>
                <a:cs typeface="Verdana" pitchFamily="34" charset="-120"/>
              </a:rPr>
              <a:t>Assertion-free scripts.</a:t>
            </a:r>
            <a:r>
              <a:rPr lang="en-US" sz="1150" dirty="0">
                <a:solidFill>
                  <a:srgbClr val="000000"/>
                </a:solidFill>
                <a:latin typeface="Verdana" pitchFamily="34" charset="0"/>
                <a:ea typeface="Verdana" pitchFamily="34" charset="-122"/>
                <a:cs typeface="Verdana" pitchFamily="34" charset="-120"/>
              </a:rPr>
              <a:t> Manual cases take precedence and every gap is recorded for adjudication.</a:t>
            </a:r>
            <a:endParaRPr lang="en-US" sz="1150" dirty="0"/>
          </a:p>
          <a:p>
            <a:pPr marL="190500" indent="-190500">
              <a:lnSpc>
                <a:spcPts val="1700"/>
              </a:lnSpc>
              <a:spcAft>
                <a:spcPts val="1000"/>
              </a:spcAft>
              <a:buSzPct val="100000"/>
              <a:buChar char="•"/>
            </a:pPr>
            <a:r>
              <a:rPr lang="en-US" sz="1150" b="1" dirty="0">
                <a:solidFill>
                  <a:srgbClr val="000000"/>
                </a:solidFill>
                <a:latin typeface="Verdana" pitchFamily="34" charset="0"/>
                <a:ea typeface="Verdana" pitchFamily="34" charset="-122"/>
                <a:cs typeface="Verdana" pitchFamily="34" charset="-120"/>
              </a:rPr>
              <a:t>Vendor-specific engine features.</a:t>
            </a:r>
            <a:r>
              <a:rPr lang="en-US" sz="1150" dirty="0">
                <a:solidFill>
                  <a:srgbClr val="000000"/>
                </a:solidFill>
                <a:latin typeface="Verdana" pitchFamily="34" charset="0"/>
                <a:ea typeface="Verdana" pitchFamily="34" charset="-122"/>
                <a:cs typeface="Verdana" pitchFamily="34" charset="-120"/>
              </a:rPr>
              <a:t> Custom controls and recovery scenarios are identified early and hand-authored.</a:t>
            </a:r>
            <a:endParaRPr lang="en-US" sz="1150" dirty="0"/>
          </a:p>
          <a:p>
            <a:pPr marL="190500" indent="-190500">
              <a:lnSpc>
                <a:spcPts val="1700"/>
              </a:lnSpc>
              <a:spcAft>
                <a:spcPts val="1000"/>
              </a:spcAft>
              <a:buSzPct val="100000"/>
              <a:buChar char="•"/>
            </a:pPr>
            <a:r>
              <a:rPr lang="en-US" sz="1150" b="1" dirty="0">
                <a:solidFill>
                  <a:srgbClr val="000000"/>
                </a:solidFill>
                <a:latin typeface="Verdana" pitchFamily="34" charset="0"/>
                <a:ea typeface="Verdana" pitchFamily="34" charset="-122"/>
                <a:cs typeface="Verdana" pitchFamily="34" charset="-120"/>
              </a:rPr>
              <a:t>Environment-coupled data.</a:t>
            </a:r>
            <a:r>
              <a:rPr lang="en-US" sz="1150" dirty="0">
                <a:solidFill>
                  <a:srgbClr val="000000"/>
                </a:solidFill>
                <a:latin typeface="Verdana" pitchFamily="34" charset="0"/>
                <a:ea typeface="Verdana" pitchFamily="34" charset="-122"/>
                <a:cs typeface="Verdana" pitchFamily="34" charset="-120"/>
              </a:rPr>
              <a:t> Record-level dependencies are raised for redesign before generation.</a:t>
            </a:r>
            <a:endParaRPr lang="en-US" sz="1150" dirty="0"/>
          </a:p>
          <a:p>
            <a:pPr marL="190500" indent="-190500">
              <a:lnSpc>
                <a:spcPts val="1700"/>
              </a:lnSpc>
              <a:spcAft>
                <a:spcPts val="1000"/>
              </a:spcAft>
              <a:buSzPct val="100000"/>
              <a:buChar char="•"/>
            </a:pPr>
            <a:r>
              <a:rPr lang="en-US" sz="1150" b="1" dirty="0">
                <a:solidFill>
                  <a:srgbClr val="000000"/>
                </a:solidFill>
                <a:latin typeface="Verdana" pitchFamily="34" charset="0"/>
                <a:ea typeface="Verdana" pitchFamily="34" charset="-122"/>
                <a:cs typeface="Verdana" pitchFamily="34" charset="-120"/>
              </a:rPr>
              <a:t>Silent coverage loss.</a:t>
            </a:r>
            <a:r>
              <a:rPr lang="en-US" sz="1150" dirty="0">
                <a:solidFill>
                  <a:srgbClr val="000000"/>
                </a:solidFill>
                <a:latin typeface="Verdana" pitchFamily="34" charset="0"/>
                <a:ea typeface="Verdana" pitchFamily="34" charset="-122"/>
                <a:cs typeface="Verdana" pitchFamily="34" charset="-120"/>
              </a:rPr>
              <a:t> Parallel execution on one build gates adoption for an agreed period.</a:t>
            </a:r>
            <a:endParaRPr lang="en-US" sz="1150" dirty="0"/>
          </a:p>
        </p:txBody>
      </p:sp>
      <p:sp>
        <p:nvSpPr>
          <p:cNvPr id="13" name="Shape 11"/>
          <p:cNvSpPr/>
          <p:nvPr/>
        </p:nvSpPr>
        <p:spPr>
          <a:xfrm>
            <a:off x="548640" y="5797296"/>
            <a:ext cx="11064240" cy="731520"/>
          </a:xfrm>
          <a:prstGeom prst="roundRect">
            <a:avLst>
              <a:gd name="adj" fmla="val 6250"/>
            </a:avLst>
          </a:prstGeom>
          <a:solidFill>
            <a:srgbClr val="1A5FB4"/>
          </a:solidFill>
          <a:ln/>
        </p:spPr>
      </p:sp>
      <p:sp>
        <p:nvSpPr>
          <p:cNvPr id="14" name="Text 12"/>
          <p:cNvSpPr txBox="1"/>
          <p:nvPr/>
        </p:nvSpPr>
        <p:spPr>
          <a:xfrm>
            <a:off x="859536" y="5797296"/>
            <a:ext cx="10442448" cy="731520"/>
          </a:xfrm>
          <a:prstGeom prst="rect">
            <a:avLst/>
          </a:prstGeom>
          <a:noFill/>
          <a:ln/>
        </p:spPr>
        <p:txBody>
          <a:bodyPr wrap="square" lIns="0" tIns="0" rIns="0" bIns="0" rtlCol="0" anchor="ctr"/>
          <a:lstStyle/>
          <a:p>
            <a:pPr indent="0" marL="0">
              <a:buNone/>
            </a:pPr>
            <a:r>
              <a:rPr lang="en-US" sz="1150" b="1" dirty="0">
                <a:solidFill>
                  <a:srgbClr val="FFFFFF"/>
                </a:solidFill>
                <a:latin typeface="Verdana" pitchFamily="34" charset="0"/>
                <a:ea typeface="Verdana" pitchFamily="34" charset="-122"/>
                <a:cs typeface="Verdana" pitchFamily="34" charset="-120"/>
              </a:rPr>
              <a:t>The legacy suite continues to run alongside the new one until reconciliation is accepted.</a:t>
            </a:r>
            <a:r>
              <a:rPr lang="en-US" sz="1150" dirty="0">
                <a:solidFill>
                  <a:srgbClr val="FFFFFF"/>
                </a:solidFill>
                <a:latin typeface="Verdana" pitchFamily="34" charset="0"/>
                <a:ea typeface="Verdana" pitchFamily="34" charset="-122"/>
                <a:cs typeface="Verdana" pitchFamily="34" charset="-120"/>
              </a:rPr>
              <a:t>  Every step remains reversible up to that point.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5FB4"/>
        </a:solidFill>
      </p:bgPr>
    </p:bg>
    <p:spTree>
      <p:nvGrpSpPr>
        <p:cNvPr id="1" name=""/>
        <p:cNvGrpSpPr/>
        <p:nvPr/>
      </p:nvGrpSpPr>
      <p:grpSpPr>
        <a:xfrm>
          <a:off x="0" y="0"/>
          <a:ext cx="0" cy="0"/>
          <a:chOff x="0" y="0"/>
          <a:chExt cx="0" cy="0"/>
        </a:xfrm>
      </p:grpSpPr>
      <p:sp>
        <p:nvSpPr>
          <p:cNvPr id="2" name="Shape 0"/>
          <p:cNvSpPr/>
          <p:nvPr/>
        </p:nvSpPr>
        <p:spPr>
          <a:xfrm>
            <a:off x="10716768" y="457200"/>
            <a:ext cx="1051560" cy="1371600"/>
          </a:xfrm>
          <a:prstGeom prst="chevron">
            <a:avLst/>
          </a:prstGeom>
          <a:solidFill>
            <a:srgbClr val="12447F"/>
          </a:solidFill>
          <a:ln/>
        </p:spPr>
      </p:sp>
      <p:sp>
        <p:nvSpPr>
          <p:cNvPr id="3" name="Shape 1"/>
          <p:cNvSpPr/>
          <p:nvPr/>
        </p:nvSpPr>
        <p:spPr>
          <a:xfrm>
            <a:off x="676656" y="5614416"/>
            <a:ext cx="566928" cy="731520"/>
          </a:xfrm>
          <a:prstGeom prst="chevron">
            <a:avLst/>
          </a:prstGeom>
          <a:solidFill>
            <a:srgbClr val="3E7FC8"/>
          </a:solidFill>
          <a:ln/>
        </p:spPr>
      </p:sp>
      <p:sp>
        <p:nvSpPr>
          <p:cNvPr id="4" name="Text 2"/>
          <p:cNvSpPr txBox="1"/>
          <p:nvPr/>
        </p:nvSpPr>
        <p:spPr>
          <a:xfrm>
            <a:off x="658368" y="1737360"/>
            <a:ext cx="5852160" cy="914400"/>
          </a:xfrm>
          <a:prstGeom prst="rect">
            <a:avLst/>
          </a:prstGeom>
          <a:noFill/>
          <a:ln/>
        </p:spPr>
        <p:txBody>
          <a:bodyPr wrap="square" lIns="0" tIns="0" rIns="0" bIns="0" rtlCol="0" anchor="t"/>
          <a:lstStyle/>
          <a:p>
            <a:pPr indent="0" marL="0">
              <a:buNone/>
            </a:pPr>
            <a:r>
              <a:rPr lang="en-US" sz="4000" b="1" dirty="0">
                <a:solidFill>
                  <a:srgbClr val="FFFFFF"/>
                </a:solidFill>
                <a:latin typeface="Verdana" pitchFamily="34" charset="0"/>
                <a:ea typeface="Verdana" pitchFamily="34" charset="-122"/>
                <a:cs typeface="Verdana" pitchFamily="34" charset="-120"/>
              </a:rPr>
              <a:t>THANK YOU</a:t>
            </a:r>
            <a:endParaRPr lang="en-US" sz="4000" dirty="0"/>
          </a:p>
        </p:txBody>
      </p:sp>
      <p:sp>
        <p:nvSpPr>
          <p:cNvPr id="5" name="Text 3"/>
          <p:cNvSpPr txBox="1"/>
          <p:nvPr/>
        </p:nvSpPr>
        <p:spPr>
          <a:xfrm>
            <a:off x="676656" y="2798064"/>
            <a:ext cx="5212080" cy="1280160"/>
          </a:xfrm>
          <a:prstGeom prst="rect">
            <a:avLst/>
          </a:prstGeom>
          <a:noFill/>
          <a:ln/>
        </p:spPr>
        <p:txBody>
          <a:bodyPr wrap="square" lIns="0" tIns="0" rIns="0" bIns="0" rtlCol="0" anchor="t"/>
          <a:lstStyle/>
          <a:p>
            <a:pPr indent="0" marL="0">
              <a:lnSpc>
                <a:spcPts val="2500"/>
              </a:lnSpc>
              <a:buNone/>
            </a:pPr>
            <a:r>
              <a:rPr lang="en-US" sz="1500" dirty="0">
                <a:solidFill>
                  <a:srgbClr val="FFFFFF"/>
                </a:solidFill>
                <a:latin typeface="Verdana" pitchFamily="34" charset="0"/>
                <a:ea typeface="Verdana" pitchFamily="34" charset="-122"/>
                <a:cs typeface="Verdana" pitchFamily="34" charset="-120"/>
              </a:rPr>
              <a:t>We are asking for one business process, converted from start to finish, with your existing suite still running beside it the whole time.</a:t>
            </a:r>
            <a:endParaRPr lang="en-US" sz="1500" dirty="0"/>
          </a:p>
        </p:txBody>
      </p:sp>
      <p:sp>
        <p:nvSpPr>
          <p:cNvPr id="6" name="Text 4"/>
          <p:cNvSpPr txBox="1"/>
          <p:nvPr/>
        </p:nvSpPr>
        <p:spPr>
          <a:xfrm>
            <a:off x="676656" y="4224528"/>
            <a:ext cx="5212080" cy="365760"/>
          </a:xfrm>
          <a:prstGeom prst="rect">
            <a:avLst/>
          </a:prstGeom>
          <a:noFill/>
          <a:ln/>
        </p:spPr>
        <p:txBody>
          <a:bodyPr wrap="square" lIns="0" tIns="0" rIns="0" bIns="0" rtlCol="0" anchor="t"/>
          <a:lstStyle/>
          <a:p>
            <a:pPr indent="0" marL="0">
              <a:buNone/>
            </a:pPr>
            <a:r>
              <a:rPr lang="en-US" sz="1400" b="1" dirty="0">
                <a:solidFill>
                  <a:srgbClr val="9FE8E0"/>
                </a:solidFill>
                <a:latin typeface="Verdana" pitchFamily="34" charset="0"/>
                <a:ea typeface="Verdana" pitchFamily="34" charset="-122"/>
                <a:cs typeface="Verdana" pitchFamily="34" charset="-120"/>
              </a:rPr>
              <a:t>Happy to take questions.</a:t>
            </a:r>
            <a:endParaRPr lang="en-US" sz="1400" dirty="0"/>
          </a:p>
        </p:txBody>
      </p:sp>
      <p:sp>
        <p:nvSpPr>
          <p:cNvPr id="7" name="Shape 5"/>
          <p:cNvSpPr/>
          <p:nvPr/>
        </p:nvSpPr>
        <p:spPr>
          <a:xfrm>
            <a:off x="6675120" y="1700784"/>
            <a:ext cx="4828032" cy="3127248"/>
          </a:xfrm>
          <a:prstGeom prst="roundRect">
            <a:avLst>
              <a:gd name="adj" fmla="val 1462"/>
            </a:avLst>
          </a:prstGeom>
          <a:solidFill>
            <a:srgbClr val="FFFFFF"/>
          </a:solidFill>
          <a:ln/>
        </p:spPr>
      </p:sp>
      <p:sp>
        <p:nvSpPr>
          <p:cNvPr id="8" name="Shape 6"/>
          <p:cNvSpPr/>
          <p:nvPr/>
        </p:nvSpPr>
        <p:spPr>
          <a:xfrm>
            <a:off x="6949440" y="1975104"/>
            <a:ext cx="3200400" cy="329184"/>
          </a:xfrm>
          <a:prstGeom prst="roundRect">
            <a:avLst>
              <a:gd name="adj" fmla="val 13889"/>
            </a:avLst>
          </a:prstGeom>
          <a:solidFill>
            <a:srgbClr val="17A398"/>
          </a:solidFill>
          <a:ln/>
        </p:spPr>
      </p:sp>
      <p:sp>
        <p:nvSpPr>
          <p:cNvPr id="9" name="Text 7"/>
          <p:cNvSpPr txBox="1"/>
          <p:nvPr/>
        </p:nvSpPr>
        <p:spPr>
          <a:xfrm>
            <a:off x="6949440" y="1975104"/>
            <a:ext cx="3200400" cy="329184"/>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Verdana" pitchFamily="34" charset="0"/>
                <a:ea typeface="Verdana" pitchFamily="34" charset="-122"/>
                <a:cs typeface="Verdana" pitchFamily="34" charset="-120"/>
              </a:rPr>
              <a:t>WHAT WE WOULD NEED TO START</a:t>
            </a:r>
            <a:endParaRPr lang="en-US" sz="900" dirty="0"/>
          </a:p>
        </p:txBody>
      </p:sp>
      <p:sp>
        <p:nvSpPr>
          <p:cNvPr id="10" name="Shape 8"/>
          <p:cNvSpPr/>
          <p:nvPr/>
        </p:nvSpPr>
        <p:spPr>
          <a:xfrm>
            <a:off x="6967728" y="2670048"/>
            <a:ext cx="219456" cy="219456"/>
          </a:xfrm>
          <a:prstGeom prst="diamond">
            <a:avLst/>
          </a:prstGeom>
          <a:solidFill>
            <a:srgbClr val="1A5FB4"/>
          </a:solidFill>
          <a:ln/>
        </p:spPr>
      </p:sp>
      <p:sp>
        <p:nvSpPr>
          <p:cNvPr id="11" name="Text 9"/>
          <p:cNvSpPr txBox="1"/>
          <p:nvPr/>
        </p:nvSpPr>
        <p:spPr>
          <a:xfrm>
            <a:off x="7370064" y="2615184"/>
            <a:ext cx="3950208" cy="658368"/>
          </a:xfrm>
          <a:prstGeom prst="rect">
            <a:avLst/>
          </a:prstGeom>
          <a:noFill/>
          <a:ln/>
        </p:spPr>
        <p:txBody>
          <a:bodyPr wrap="square" lIns="0" tIns="0" rIns="0" bIns="0" rtlCol="0" anchor="t"/>
          <a:lstStyle/>
          <a:p>
            <a:pPr indent="0" marL="0">
              <a:lnSpc>
                <a:spcPts val="1800"/>
              </a:lnSpc>
              <a:buNone/>
            </a:pPr>
            <a:r>
              <a:rPr lang="en-US" sz="1250" dirty="0">
                <a:solidFill>
                  <a:srgbClr val="000000"/>
                </a:solidFill>
                <a:latin typeface="Verdana" pitchFamily="34" charset="0"/>
                <a:ea typeface="Verdana" pitchFamily="34" charset="-122"/>
                <a:cs typeface="Verdana" pitchFamily="34" charset="-120"/>
              </a:rPr>
              <a:t>Read access to the automation repository</a:t>
            </a:r>
            <a:endParaRPr lang="en-US" sz="1250" dirty="0"/>
          </a:p>
        </p:txBody>
      </p:sp>
      <p:sp>
        <p:nvSpPr>
          <p:cNvPr id="12" name="Shape 10"/>
          <p:cNvSpPr/>
          <p:nvPr/>
        </p:nvSpPr>
        <p:spPr>
          <a:xfrm>
            <a:off x="6967728" y="3419856"/>
            <a:ext cx="219456" cy="219456"/>
          </a:xfrm>
          <a:prstGeom prst="diamond">
            <a:avLst/>
          </a:prstGeom>
          <a:solidFill>
            <a:srgbClr val="1A5FB4"/>
          </a:solidFill>
          <a:ln/>
        </p:spPr>
      </p:sp>
      <p:sp>
        <p:nvSpPr>
          <p:cNvPr id="13" name="Text 11"/>
          <p:cNvSpPr txBox="1"/>
          <p:nvPr/>
        </p:nvSpPr>
        <p:spPr>
          <a:xfrm>
            <a:off x="7370064" y="3364992"/>
            <a:ext cx="3950208" cy="658368"/>
          </a:xfrm>
          <a:prstGeom prst="rect">
            <a:avLst/>
          </a:prstGeom>
          <a:noFill/>
          <a:ln/>
        </p:spPr>
        <p:txBody>
          <a:bodyPr wrap="square" lIns="0" tIns="0" rIns="0" bIns="0" rtlCol="0" anchor="t"/>
          <a:lstStyle/>
          <a:p>
            <a:pPr indent="0" marL="0">
              <a:lnSpc>
                <a:spcPts val="1800"/>
              </a:lnSpc>
              <a:buNone/>
            </a:pPr>
            <a:r>
              <a:rPr lang="en-US" sz="1250" dirty="0">
                <a:solidFill>
                  <a:srgbClr val="000000"/>
                </a:solidFill>
                <a:latin typeface="Verdana" pitchFamily="34" charset="0"/>
                <a:ea typeface="Verdana" pitchFamily="34" charset="-122"/>
                <a:cs typeface="Verdana" pitchFamily="34" charset="-120"/>
              </a:rPr>
              <a:t>The manual test cases for that process, where they exist</a:t>
            </a:r>
            <a:endParaRPr lang="en-US" sz="1250" dirty="0"/>
          </a:p>
        </p:txBody>
      </p:sp>
      <p:sp>
        <p:nvSpPr>
          <p:cNvPr id="14" name="Shape 12"/>
          <p:cNvSpPr/>
          <p:nvPr/>
        </p:nvSpPr>
        <p:spPr>
          <a:xfrm>
            <a:off x="6967728" y="4169664"/>
            <a:ext cx="219456" cy="219456"/>
          </a:xfrm>
          <a:prstGeom prst="diamond">
            <a:avLst/>
          </a:prstGeom>
          <a:solidFill>
            <a:srgbClr val="1A5FB4"/>
          </a:solidFill>
          <a:ln/>
        </p:spPr>
      </p:sp>
      <p:sp>
        <p:nvSpPr>
          <p:cNvPr id="15" name="Text 13"/>
          <p:cNvSpPr txBox="1"/>
          <p:nvPr/>
        </p:nvSpPr>
        <p:spPr>
          <a:xfrm>
            <a:off x="7370064" y="4114800"/>
            <a:ext cx="3950208" cy="658368"/>
          </a:xfrm>
          <a:prstGeom prst="rect">
            <a:avLst/>
          </a:prstGeom>
          <a:noFill/>
          <a:ln/>
        </p:spPr>
        <p:txBody>
          <a:bodyPr wrap="square" lIns="0" tIns="0" rIns="0" bIns="0" rtlCol="0" anchor="t"/>
          <a:lstStyle/>
          <a:p>
            <a:pPr indent="0" marL="0">
              <a:lnSpc>
                <a:spcPts val="1800"/>
              </a:lnSpc>
              <a:buNone/>
            </a:pPr>
            <a:r>
              <a:rPr lang="en-US" sz="1250" dirty="0">
                <a:solidFill>
                  <a:srgbClr val="000000"/>
                </a:solidFill>
                <a:latin typeface="Verdana" pitchFamily="34" charset="0"/>
                <a:ea typeface="Verdana" pitchFamily="34" charset="-122"/>
                <a:cs typeface="Verdana" pitchFamily="34" charset="-120"/>
              </a:rPr>
              <a:t>An environment where both suites can run against the same build</a:t>
            </a:r>
            <a:endParaRPr lang="en-US" sz="1250" dirty="0"/>
          </a:p>
        </p:txBody>
      </p:sp>
      <p:sp>
        <p:nvSpPr>
          <p:cNvPr id="16" name="Text 14"/>
          <p:cNvSpPr txBox="1"/>
          <p:nvPr/>
        </p:nvSpPr>
        <p:spPr>
          <a:xfrm>
            <a:off x="1426464" y="5815584"/>
            <a:ext cx="4572000" cy="274320"/>
          </a:xfrm>
          <a:prstGeom prst="rect">
            <a:avLst/>
          </a:prstGeom>
          <a:noFill/>
          <a:ln/>
        </p:spPr>
        <p:txBody>
          <a:bodyPr wrap="square" lIns="0" tIns="0" rIns="0" bIns="0" rtlCol="0" anchor="t"/>
          <a:lstStyle/>
          <a:p>
            <a:pPr indent="0" marL="0">
              <a:buNone/>
            </a:pPr>
            <a:r>
              <a:rPr lang="en-US" sz="1050" b="1" spc="100" kern="0" dirty="0">
                <a:solidFill>
                  <a:srgbClr val="A8CBF0"/>
                </a:solidFill>
                <a:latin typeface="Verdana" pitchFamily="34" charset="0"/>
                <a:ea typeface="Verdana" pitchFamily="34" charset="-122"/>
                <a:cs typeface="Verdana" pitchFamily="34" charset="-120"/>
              </a:rPr>
              <a:t>MyOrg  ·  Quality Engineering</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2212848"/>
          </a:xfrm>
          <a:prstGeom prst="rect">
            <a:avLst/>
          </a:prstGeom>
          <a:solidFill>
            <a:srgbClr val="1A5FB4"/>
          </a:solidFill>
          <a:ln/>
        </p:spPr>
      </p:sp>
      <p:sp>
        <p:nvSpPr>
          <p:cNvPr id="3" name="Shape 1"/>
          <p:cNvSpPr/>
          <p:nvPr/>
        </p:nvSpPr>
        <p:spPr>
          <a:xfrm>
            <a:off x="10607040" y="384048"/>
            <a:ext cx="1097280" cy="1463040"/>
          </a:xfrm>
          <a:prstGeom prst="chevron">
            <a:avLst/>
          </a:prstGeom>
          <a:solidFill>
            <a:srgbClr val="12447F"/>
          </a:solidFill>
          <a:ln/>
        </p:spPr>
      </p:sp>
      <p:sp>
        <p:nvSpPr>
          <p:cNvPr id="4" name="Shape 2"/>
          <p:cNvSpPr/>
          <p:nvPr/>
        </p:nvSpPr>
        <p:spPr>
          <a:xfrm>
            <a:off x="548640" y="310896"/>
            <a:ext cx="4846320" cy="347472"/>
          </a:xfrm>
          <a:prstGeom prst="roundRect">
            <a:avLst>
              <a:gd name="adj" fmla="val 13158"/>
            </a:avLst>
          </a:prstGeom>
          <a:solidFill>
            <a:srgbClr val="F8E7E3"/>
          </a:solidFill>
          <a:ln/>
        </p:spPr>
      </p:sp>
      <p:sp>
        <p:nvSpPr>
          <p:cNvPr id="5" name="Text 3"/>
          <p:cNvSpPr txBox="1"/>
          <p:nvPr/>
        </p:nvSpPr>
        <p:spPr>
          <a:xfrm>
            <a:off x="548640" y="310896"/>
            <a:ext cx="4846320" cy="347472"/>
          </a:xfrm>
          <a:prstGeom prst="rect">
            <a:avLst/>
          </a:prstGeom>
          <a:noFill/>
          <a:ln/>
        </p:spPr>
        <p:txBody>
          <a:bodyPr wrap="square" lIns="0" tIns="0" rIns="0" bIns="0" rtlCol="0" anchor="ctr"/>
          <a:lstStyle/>
          <a:p>
            <a:pPr algn="ctr" indent="0" marL="0">
              <a:buNone/>
            </a:pPr>
            <a:r>
              <a:rPr lang="en-US" sz="900" b="1" spc="80" kern="0" dirty="0">
                <a:solidFill>
                  <a:srgbClr val="9A3B2E"/>
                </a:solidFill>
                <a:latin typeface="Verdana" pitchFamily="34" charset="0"/>
                <a:ea typeface="Verdana" pitchFamily="34" charset="-122"/>
                <a:cs typeface="Verdana" pitchFamily="34" charset="-120"/>
              </a:rPr>
              <a:t>PREPARATION SLIDE  —  REMOVE BEFORE PRESENTING</a:t>
            </a:r>
            <a:endParaRPr lang="en-US" sz="900" dirty="0"/>
          </a:p>
        </p:txBody>
      </p:sp>
      <p:sp>
        <p:nvSpPr>
          <p:cNvPr id="6" name="Text 4"/>
          <p:cNvSpPr txBox="1"/>
          <p:nvPr/>
        </p:nvSpPr>
        <p:spPr>
          <a:xfrm>
            <a:off x="548640" y="896112"/>
            <a:ext cx="11064240" cy="237744"/>
          </a:xfrm>
          <a:prstGeom prst="rect">
            <a:avLst/>
          </a:prstGeom>
          <a:noFill/>
          <a:ln/>
        </p:spPr>
        <p:txBody>
          <a:bodyPr wrap="square" lIns="0" tIns="0" rIns="0" bIns="0" rtlCol="0" anchor="t"/>
          <a:lstStyle/>
          <a:p>
            <a:pPr indent="0" marL="0">
              <a:buNone/>
            </a:pPr>
            <a:r>
              <a:rPr lang="en-US" sz="1000" b="1" spc="180" kern="0" dirty="0">
                <a:solidFill>
                  <a:srgbClr val="A8CBF0"/>
                </a:solidFill>
                <a:latin typeface="Verdana" pitchFamily="34" charset="0"/>
                <a:ea typeface="Verdana" pitchFamily="34" charset="-122"/>
                <a:cs typeface="Verdana" pitchFamily="34" charset="-120"/>
              </a:rPr>
              <a:t>ANTICIPATED CHALLENGES</a:t>
            </a:r>
            <a:endParaRPr lang="en-US" sz="1000" dirty="0"/>
          </a:p>
        </p:txBody>
      </p:sp>
      <p:sp>
        <p:nvSpPr>
          <p:cNvPr id="7" name="Text 5"/>
          <p:cNvSpPr txBox="1"/>
          <p:nvPr/>
        </p:nvSpPr>
        <p:spPr>
          <a:xfrm>
            <a:off x="548640" y="1207008"/>
            <a:ext cx="9692640" cy="640080"/>
          </a:xfrm>
          <a:prstGeom prst="rect">
            <a:avLst/>
          </a:prstGeom>
          <a:noFill/>
          <a:ln/>
        </p:spPr>
        <p:txBody>
          <a:bodyPr wrap="square" lIns="0" tIns="0" rIns="0" bIns="0" rtlCol="0" anchor="t"/>
          <a:lstStyle/>
          <a:p>
            <a:pPr indent="0" marL="0">
              <a:buNone/>
            </a:pPr>
            <a:r>
              <a:rPr lang="en-US" sz="2200" b="1" dirty="0">
                <a:solidFill>
                  <a:srgbClr val="FFFFFF"/>
                </a:solidFill>
                <a:latin typeface="Verdana" pitchFamily="34" charset="0"/>
                <a:ea typeface="Verdana" pitchFamily="34" charset="-122"/>
                <a:cs typeface="Verdana" pitchFamily="34" charset="-120"/>
              </a:rPr>
              <a:t>The three questions this room will ask</a:t>
            </a:r>
            <a:endParaRPr lang="en-US" sz="2200" dirty="0"/>
          </a:p>
        </p:txBody>
      </p:sp>
      <p:sp>
        <p:nvSpPr>
          <p:cNvPr id="8" name="Shape 6"/>
          <p:cNvSpPr/>
          <p:nvPr/>
        </p:nvSpPr>
        <p:spPr>
          <a:xfrm>
            <a:off x="548640" y="2615184"/>
            <a:ext cx="3505200" cy="3310128"/>
          </a:xfrm>
          <a:prstGeom prst="roundRect">
            <a:avLst>
              <a:gd name="adj" fmla="val 1381"/>
            </a:avLst>
          </a:prstGeom>
          <a:solidFill>
            <a:srgbClr val="F1F4F7"/>
          </a:solidFill>
          <a:ln/>
        </p:spPr>
      </p:sp>
      <p:sp>
        <p:nvSpPr>
          <p:cNvPr id="9" name="Shape 7"/>
          <p:cNvSpPr/>
          <p:nvPr/>
        </p:nvSpPr>
        <p:spPr>
          <a:xfrm>
            <a:off x="804672" y="2816352"/>
            <a:ext cx="420624" cy="420624"/>
          </a:xfrm>
          <a:prstGeom prst="diamond">
            <a:avLst/>
          </a:prstGeom>
          <a:solidFill>
            <a:srgbClr val="17A398"/>
          </a:solidFill>
          <a:ln/>
        </p:spPr>
      </p:sp>
      <p:sp>
        <p:nvSpPr>
          <p:cNvPr id="10" name="Text 8"/>
          <p:cNvSpPr txBox="1"/>
          <p:nvPr/>
        </p:nvSpPr>
        <p:spPr>
          <a:xfrm>
            <a:off x="804672" y="2816352"/>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Verdana" pitchFamily="34" charset="0"/>
                <a:ea typeface="Verdana" pitchFamily="34" charset="-122"/>
                <a:cs typeface="Verdana" pitchFamily="34" charset="-120"/>
              </a:rPr>
              <a:t>1</a:t>
            </a:r>
            <a:endParaRPr lang="en-US" sz="1100" dirty="0"/>
          </a:p>
        </p:txBody>
      </p:sp>
      <p:sp>
        <p:nvSpPr>
          <p:cNvPr id="11" name="Text 9"/>
          <p:cNvSpPr txBox="1"/>
          <p:nvPr/>
        </p:nvSpPr>
        <p:spPr>
          <a:xfrm>
            <a:off x="804672" y="3364992"/>
            <a:ext cx="2993136" cy="914400"/>
          </a:xfrm>
          <a:prstGeom prst="rect">
            <a:avLst/>
          </a:prstGeom>
          <a:noFill/>
          <a:ln/>
        </p:spPr>
        <p:txBody>
          <a:bodyPr wrap="square" lIns="0" tIns="0" rIns="0" bIns="0" rtlCol="0" anchor="t"/>
          <a:lstStyle/>
          <a:p>
            <a:pPr indent="0" marL="0">
              <a:lnSpc>
                <a:spcPts val="1600"/>
              </a:lnSpc>
              <a:buNone/>
            </a:pPr>
            <a:r>
              <a:rPr lang="en-US" sz="1150" b="1" dirty="0">
                <a:solidFill>
                  <a:srgbClr val="0B6B63"/>
                </a:solidFill>
                <a:latin typeface="Verdana" pitchFamily="34" charset="0"/>
                <a:ea typeface="Verdana" pitchFamily="34" charset="-122"/>
                <a:cs typeface="Verdana" pitchFamily="34" charset="-120"/>
              </a:rPr>
              <a:t>“We have already invested millions in licences and scripts.”</a:t>
            </a:r>
            <a:endParaRPr lang="en-US" sz="1150" dirty="0"/>
          </a:p>
        </p:txBody>
      </p:sp>
      <p:sp>
        <p:nvSpPr>
          <p:cNvPr id="12" name="Text 10"/>
          <p:cNvSpPr txBox="1"/>
          <p:nvPr/>
        </p:nvSpPr>
        <p:spPr>
          <a:xfrm>
            <a:off x="804672" y="4261104"/>
            <a:ext cx="2993136" cy="1426464"/>
          </a:xfrm>
          <a:prstGeom prst="rect">
            <a:avLst/>
          </a:prstGeom>
          <a:noFill/>
          <a:ln/>
        </p:spPr>
        <p:txBody>
          <a:bodyPr wrap="square" lIns="0" tIns="0" rIns="0" bIns="0" rtlCol="0" anchor="t"/>
          <a:lstStyle/>
          <a:p>
            <a:pPr marL="190500" indent="-190500">
              <a:lnSpc>
                <a:spcPts val="1500"/>
              </a:lnSpc>
              <a:spcAft>
                <a:spcPts val="800"/>
              </a:spcAft>
              <a:buSzPct val="100000"/>
              <a:buChar char="•"/>
            </a:pPr>
            <a:r>
              <a:rPr lang="en-US" sz="1050" dirty="0">
                <a:solidFill>
                  <a:srgbClr val="000000"/>
                </a:solidFill>
                <a:latin typeface="Verdana" pitchFamily="34" charset="0"/>
                <a:ea typeface="Verdana" pitchFamily="34" charset="-122"/>
                <a:cs typeface="Verdana" pitchFamily="34" charset="-120"/>
              </a:rPr>
              <a:t>The business knowledge in those scripts carries into the </a:t>
            </a:r>
            <a:r>
              <a:rPr lang="en-US" sz="1050" b="1" dirty="0">
                <a:solidFill>
                  <a:srgbClr val="000000"/>
                </a:solidFill>
                <a:latin typeface="Verdana" pitchFamily="34" charset="0"/>
                <a:ea typeface="Verdana" pitchFamily="34" charset="-122"/>
                <a:cs typeface="Verdana" pitchFamily="34" charset="-120"/>
              </a:rPr>
              <a:t>intent repository</a:t>
            </a:r>
            <a:endParaRPr lang="en-US" sz="1050" dirty="0"/>
          </a:p>
          <a:p>
            <a:pPr marL="190500" indent="-190500">
              <a:lnSpc>
                <a:spcPts val="1500"/>
              </a:lnSpc>
              <a:spcAft>
                <a:spcPts val="800"/>
              </a:spcAft>
              <a:buSzPct val="100000"/>
              <a:buChar char="•"/>
            </a:pPr>
            <a:r>
              <a:rPr lang="en-US" sz="1050" dirty="0">
                <a:solidFill>
                  <a:srgbClr val="000000"/>
                </a:solidFill>
                <a:latin typeface="Verdana" pitchFamily="34" charset="0"/>
                <a:ea typeface="Verdana" pitchFamily="34" charset="-122"/>
                <a:cs typeface="Verdana" pitchFamily="34" charset="-120"/>
              </a:rPr>
              <a:t>Existing assets stay in service until </a:t>
            </a:r>
            <a:r>
              <a:rPr lang="en-US" sz="1050" b="1" dirty="0">
                <a:solidFill>
                  <a:srgbClr val="000000"/>
                </a:solidFill>
                <a:latin typeface="Verdana" pitchFamily="34" charset="0"/>
                <a:ea typeface="Verdana" pitchFamily="34" charset="-122"/>
                <a:cs typeface="Verdana" pitchFamily="34" charset="-120"/>
              </a:rPr>
              <a:t>reconciliation completes</a:t>
            </a:r>
            <a:endParaRPr lang="en-US" sz="1050" dirty="0"/>
          </a:p>
          <a:p>
            <a:pPr marL="190500" indent="-190500">
              <a:lnSpc>
                <a:spcPts val="1500"/>
              </a:lnSpc>
              <a:spcAft>
                <a:spcPts val="800"/>
              </a:spcAft>
              <a:buSzPct val="100000"/>
              <a:buChar char="•"/>
            </a:pPr>
            <a:r>
              <a:rPr lang="en-US" sz="1050" dirty="0">
                <a:solidFill>
                  <a:srgbClr val="000000"/>
                </a:solidFill>
                <a:latin typeface="Verdana" pitchFamily="34" charset="0"/>
                <a:ea typeface="Verdana" pitchFamily="34" charset="-122"/>
                <a:cs typeface="Verdana" pitchFamily="34" charset="-120"/>
              </a:rPr>
              <a:t>Renewal fees end at the point of </a:t>
            </a:r>
            <a:r>
              <a:rPr lang="en-US" sz="1050" b="1" dirty="0">
                <a:solidFill>
                  <a:srgbClr val="000000"/>
                </a:solidFill>
                <a:latin typeface="Verdana" pitchFamily="34" charset="0"/>
                <a:ea typeface="Verdana" pitchFamily="34" charset="-122"/>
                <a:cs typeface="Verdana" pitchFamily="34" charset="-120"/>
              </a:rPr>
              <a:t>adoption</a:t>
            </a:r>
            <a:endParaRPr lang="en-US" sz="1050" dirty="0"/>
          </a:p>
        </p:txBody>
      </p:sp>
      <p:sp>
        <p:nvSpPr>
          <p:cNvPr id="13" name="Shape 11"/>
          <p:cNvSpPr/>
          <p:nvPr/>
        </p:nvSpPr>
        <p:spPr>
          <a:xfrm>
            <a:off x="4328160" y="2615184"/>
            <a:ext cx="3505200" cy="3310128"/>
          </a:xfrm>
          <a:prstGeom prst="roundRect">
            <a:avLst>
              <a:gd name="adj" fmla="val 1381"/>
            </a:avLst>
          </a:prstGeom>
          <a:solidFill>
            <a:srgbClr val="F1F4F7"/>
          </a:solidFill>
          <a:ln/>
        </p:spPr>
      </p:sp>
      <p:sp>
        <p:nvSpPr>
          <p:cNvPr id="14" name="Shape 12"/>
          <p:cNvSpPr/>
          <p:nvPr/>
        </p:nvSpPr>
        <p:spPr>
          <a:xfrm>
            <a:off x="4584192" y="2816352"/>
            <a:ext cx="420624" cy="420624"/>
          </a:xfrm>
          <a:prstGeom prst="diamond">
            <a:avLst/>
          </a:prstGeom>
          <a:solidFill>
            <a:srgbClr val="17A398"/>
          </a:solidFill>
          <a:ln/>
        </p:spPr>
      </p:sp>
      <p:sp>
        <p:nvSpPr>
          <p:cNvPr id="15" name="Text 13"/>
          <p:cNvSpPr txBox="1"/>
          <p:nvPr/>
        </p:nvSpPr>
        <p:spPr>
          <a:xfrm>
            <a:off x="4584192" y="2816352"/>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Verdana" pitchFamily="34" charset="0"/>
                <a:ea typeface="Verdana" pitchFamily="34" charset="-122"/>
                <a:cs typeface="Verdana" pitchFamily="34" charset="-120"/>
              </a:rPr>
              <a:t>2</a:t>
            </a:r>
            <a:endParaRPr lang="en-US" sz="1100" dirty="0"/>
          </a:p>
        </p:txBody>
      </p:sp>
      <p:sp>
        <p:nvSpPr>
          <p:cNvPr id="16" name="Text 14"/>
          <p:cNvSpPr txBox="1"/>
          <p:nvPr/>
        </p:nvSpPr>
        <p:spPr>
          <a:xfrm>
            <a:off x="4584192" y="3364992"/>
            <a:ext cx="2993136" cy="914400"/>
          </a:xfrm>
          <a:prstGeom prst="rect">
            <a:avLst/>
          </a:prstGeom>
          <a:noFill/>
          <a:ln/>
        </p:spPr>
        <p:txBody>
          <a:bodyPr wrap="square" lIns="0" tIns="0" rIns="0" bIns="0" rtlCol="0" anchor="t"/>
          <a:lstStyle/>
          <a:p>
            <a:pPr indent="0" marL="0">
              <a:lnSpc>
                <a:spcPts val="1600"/>
              </a:lnSpc>
              <a:buNone/>
            </a:pPr>
            <a:r>
              <a:rPr lang="en-US" sz="1150" b="1" dirty="0">
                <a:solidFill>
                  <a:srgbClr val="0B6B63"/>
                </a:solidFill>
                <a:latin typeface="Verdana" pitchFamily="34" charset="0"/>
                <a:ea typeface="Verdana" pitchFamily="34" charset="-122"/>
                <a:cs typeface="Verdana" pitchFamily="34" charset="-120"/>
              </a:rPr>
              <a:t>“How do we know the new tool will be reliable?”</a:t>
            </a:r>
            <a:endParaRPr lang="en-US" sz="1150" dirty="0"/>
          </a:p>
        </p:txBody>
      </p:sp>
      <p:sp>
        <p:nvSpPr>
          <p:cNvPr id="17" name="Text 15"/>
          <p:cNvSpPr txBox="1"/>
          <p:nvPr/>
        </p:nvSpPr>
        <p:spPr>
          <a:xfrm>
            <a:off x="4584192" y="4261104"/>
            <a:ext cx="2993136" cy="1426464"/>
          </a:xfrm>
          <a:prstGeom prst="rect">
            <a:avLst/>
          </a:prstGeom>
          <a:noFill/>
          <a:ln/>
        </p:spPr>
        <p:txBody>
          <a:bodyPr wrap="square" lIns="0" tIns="0" rIns="0" bIns="0" rtlCol="0" anchor="t"/>
          <a:lstStyle/>
          <a:p>
            <a:pPr marL="190500" indent="-190500">
              <a:lnSpc>
                <a:spcPts val="1500"/>
              </a:lnSpc>
              <a:spcAft>
                <a:spcPts val="800"/>
              </a:spcAft>
              <a:buSzPct val="100000"/>
              <a:buChar char="•"/>
            </a:pPr>
            <a:r>
              <a:rPr lang="en-US" sz="1050" dirty="0">
                <a:solidFill>
                  <a:srgbClr val="000000"/>
                </a:solidFill>
                <a:latin typeface="Verdana" pitchFamily="34" charset="0"/>
                <a:ea typeface="Verdana" pitchFamily="34" charset="-122"/>
                <a:cs typeface="Verdana" pitchFamily="34" charset="-120"/>
              </a:rPr>
              <a:t>Both suites execute against the </a:t>
            </a:r>
            <a:r>
              <a:rPr lang="en-US" sz="1050" b="1" dirty="0">
                <a:solidFill>
                  <a:srgbClr val="000000"/>
                </a:solidFill>
                <a:latin typeface="Verdana" pitchFamily="34" charset="0"/>
                <a:ea typeface="Verdana" pitchFamily="34" charset="-122"/>
                <a:cs typeface="Verdana" pitchFamily="34" charset="-120"/>
              </a:rPr>
              <a:t>same build</a:t>
            </a:r>
            <a:r>
              <a:rPr lang="en-US" sz="1050" dirty="0">
                <a:solidFill>
                  <a:srgbClr val="000000"/>
                </a:solidFill>
                <a:latin typeface="Verdana" pitchFamily="34" charset="0"/>
                <a:ea typeface="Verdana" pitchFamily="34" charset="-122"/>
                <a:cs typeface="Verdana" pitchFamily="34" charset="-120"/>
              </a:rPr>
              <a:t> for an agreed period</a:t>
            </a:r>
            <a:endParaRPr lang="en-US" sz="1050" dirty="0"/>
          </a:p>
          <a:p>
            <a:pPr marL="190500" indent="-190500">
              <a:lnSpc>
                <a:spcPts val="1500"/>
              </a:lnSpc>
              <a:spcAft>
                <a:spcPts val="800"/>
              </a:spcAft>
              <a:buSzPct val="100000"/>
              <a:buChar char="•"/>
            </a:pPr>
            <a:r>
              <a:rPr lang="en-US" sz="1050" dirty="0">
                <a:solidFill>
                  <a:srgbClr val="000000"/>
                </a:solidFill>
                <a:latin typeface="Verdana" pitchFamily="34" charset="0"/>
                <a:ea typeface="Verdana" pitchFamily="34" charset="-122"/>
                <a:cs typeface="Verdana" pitchFamily="34" charset="-120"/>
              </a:rPr>
              <a:t>Adoption follows </a:t>
            </a:r>
            <a:r>
              <a:rPr lang="en-US" sz="1050" b="1" dirty="0">
                <a:solidFill>
                  <a:srgbClr val="000000"/>
                </a:solidFill>
                <a:latin typeface="Verdana" pitchFamily="34" charset="0"/>
                <a:ea typeface="Verdana" pitchFamily="34" charset="-122"/>
                <a:cs typeface="Verdana" pitchFamily="34" charset="-120"/>
              </a:rPr>
              <a:t>reconciliation evidence</a:t>
            </a:r>
            <a:endParaRPr lang="en-US" sz="1050" dirty="0"/>
          </a:p>
          <a:p>
            <a:pPr marL="190500" indent="-190500">
              <a:lnSpc>
                <a:spcPts val="1500"/>
              </a:lnSpc>
              <a:spcAft>
                <a:spcPts val="800"/>
              </a:spcAft>
              <a:buSzPct val="100000"/>
              <a:buChar char="•"/>
            </a:pPr>
            <a:r>
              <a:rPr lang="en-US" sz="1050" dirty="0">
                <a:solidFill>
                  <a:srgbClr val="000000"/>
                </a:solidFill>
                <a:latin typeface="Verdana" pitchFamily="34" charset="0"/>
                <a:ea typeface="Verdana" pitchFamily="34" charset="-122"/>
                <a:cs typeface="Verdana" pitchFamily="34" charset="-120"/>
              </a:rPr>
              <a:t>Every step remains </a:t>
            </a:r>
            <a:r>
              <a:rPr lang="en-US" sz="1050" b="1" dirty="0">
                <a:solidFill>
                  <a:srgbClr val="000000"/>
                </a:solidFill>
                <a:latin typeface="Verdana" pitchFamily="34" charset="0"/>
                <a:ea typeface="Verdana" pitchFamily="34" charset="-122"/>
                <a:cs typeface="Verdana" pitchFamily="34" charset="-120"/>
              </a:rPr>
              <a:t>reversible</a:t>
            </a:r>
            <a:r>
              <a:rPr lang="en-US" sz="1050" dirty="0">
                <a:solidFill>
                  <a:srgbClr val="000000"/>
                </a:solidFill>
                <a:latin typeface="Verdana" pitchFamily="34" charset="0"/>
                <a:ea typeface="Verdana" pitchFamily="34" charset="-122"/>
                <a:cs typeface="Verdana" pitchFamily="34" charset="-120"/>
              </a:rPr>
              <a:t> until that evidence exists</a:t>
            </a:r>
            <a:endParaRPr lang="en-US" sz="1050" dirty="0"/>
          </a:p>
        </p:txBody>
      </p:sp>
      <p:sp>
        <p:nvSpPr>
          <p:cNvPr id="18" name="Shape 16"/>
          <p:cNvSpPr/>
          <p:nvPr/>
        </p:nvSpPr>
        <p:spPr>
          <a:xfrm>
            <a:off x="8107680" y="2615184"/>
            <a:ext cx="3505200" cy="3310128"/>
          </a:xfrm>
          <a:prstGeom prst="roundRect">
            <a:avLst>
              <a:gd name="adj" fmla="val 1381"/>
            </a:avLst>
          </a:prstGeom>
          <a:solidFill>
            <a:srgbClr val="F1F4F7"/>
          </a:solidFill>
          <a:ln/>
        </p:spPr>
      </p:sp>
      <p:sp>
        <p:nvSpPr>
          <p:cNvPr id="19" name="Shape 17"/>
          <p:cNvSpPr/>
          <p:nvPr/>
        </p:nvSpPr>
        <p:spPr>
          <a:xfrm>
            <a:off x="8363712" y="2816352"/>
            <a:ext cx="420624" cy="420624"/>
          </a:xfrm>
          <a:prstGeom prst="diamond">
            <a:avLst/>
          </a:prstGeom>
          <a:solidFill>
            <a:srgbClr val="17A398"/>
          </a:solidFill>
          <a:ln/>
        </p:spPr>
      </p:sp>
      <p:sp>
        <p:nvSpPr>
          <p:cNvPr id="20" name="Text 18"/>
          <p:cNvSpPr txBox="1"/>
          <p:nvPr/>
        </p:nvSpPr>
        <p:spPr>
          <a:xfrm>
            <a:off x="8363712" y="2816352"/>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Verdana" pitchFamily="34" charset="0"/>
                <a:ea typeface="Verdana" pitchFamily="34" charset="-122"/>
                <a:cs typeface="Verdana" pitchFamily="34" charset="-120"/>
              </a:rPr>
              <a:t>3</a:t>
            </a:r>
            <a:endParaRPr lang="en-US" sz="1100" dirty="0"/>
          </a:p>
        </p:txBody>
      </p:sp>
      <p:sp>
        <p:nvSpPr>
          <p:cNvPr id="21" name="Text 19"/>
          <p:cNvSpPr txBox="1"/>
          <p:nvPr/>
        </p:nvSpPr>
        <p:spPr>
          <a:xfrm>
            <a:off x="8363712" y="3364992"/>
            <a:ext cx="2993136" cy="914400"/>
          </a:xfrm>
          <a:prstGeom prst="rect">
            <a:avLst/>
          </a:prstGeom>
          <a:noFill/>
          <a:ln/>
        </p:spPr>
        <p:txBody>
          <a:bodyPr wrap="square" lIns="0" tIns="0" rIns="0" bIns="0" rtlCol="0" anchor="t"/>
          <a:lstStyle/>
          <a:p>
            <a:pPr indent="0" marL="0">
              <a:lnSpc>
                <a:spcPts val="1600"/>
              </a:lnSpc>
              <a:buNone/>
            </a:pPr>
            <a:r>
              <a:rPr lang="en-US" sz="1150" b="1" dirty="0">
                <a:solidFill>
                  <a:srgbClr val="0B6B63"/>
                </a:solidFill>
                <a:latin typeface="Verdana" pitchFamily="34" charset="0"/>
                <a:ea typeface="Verdana" pitchFamily="34" charset="-122"/>
                <a:cs typeface="Verdana" pitchFamily="34" charset="-120"/>
              </a:rPr>
              <a:t>“Are the Tosca specialists still required afterwards?”</a:t>
            </a:r>
            <a:endParaRPr lang="en-US" sz="1150" dirty="0"/>
          </a:p>
        </p:txBody>
      </p:sp>
      <p:sp>
        <p:nvSpPr>
          <p:cNvPr id="22" name="Text 20"/>
          <p:cNvSpPr txBox="1"/>
          <p:nvPr/>
        </p:nvSpPr>
        <p:spPr>
          <a:xfrm>
            <a:off x="8363712" y="4261104"/>
            <a:ext cx="2993136" cy="1426464"/>
          </a:xfrm>
          <a:prstGeom prst="rect">
            <a:avLst/>
          </a:prstGeom>
          <a:noFill/>
          <a:ln/>
        </p:spPr>
        <p:txBody>
          <a:bodyPr wrap="square" lIns="0" tIns="0" rIns="0" bIns="0" rtlCol="0" anchor="t"/>
          <a:lstStyle/>
          <a:p>
            <a:pPr marL="190500" indent="-190500">
              <a:lnSpc>
                <a:spcPts val="1500"/>
              </a:lnSpc>
              <a:spcAft>
                <a:spcPts val="800"/>
              </a:spcAft>
              <a:buSzPct val="100000"/>
              <a:buChar char="•"/>
            </a:pPr>
            <a:r>
              <a:rPr lang="en-US" sz="1050" dirty="0">
                <a:solidFill>
                  <a:srgbClr val="000000"/>
                </a:solidFill>
                <a:latin typeface="Verdana" pitchFamily="34" charset="0"/>
                <a:ea typeface="Verdana" pitchFamily="34" charset="-122"/>
                <a:cs typeface="Verdana" pitchFamily="34" charset="-120"/>
              </a:rPr>
              <a:t>Intent validation depends on </a:t>
            </a:r>
            <a:r>
              <a:rPr lang="en-US" sz="1050" b="1" dirty="0">
                <a:solidFill>
                  <a:srgbClr val="000000"/>
                </a:solidFill>
                <a:latin typeface="Verdana" pitchFamily="34" charset="0"/>
                <a:ea typeface="Verdana" pitchFamily="34" charset="-122"/>
                <a:cs typeface="Verdana" pitchFamily="34" charset="-120"/>
              </a:rPr>
              <a:t>knowledge only they hold</a:t>
            </a:r>
            <a:endParaRPr lang="en-US" sz="1050" dirty="0"/>
          </a:p>
          <a:p>
            <a:pPr marL="190500" indent="-190500">
              <a:lnSpc>
                <a:spcPts val="1500"/>
              </a:lnSpc>
              <a:spcAft>
                <a:spcPts val="800"/>
              </a:spcAft>
              <a:buSzPct val="100000"/>
              <a:buChar char="•"/>
            </a:pPr>
            <a:r>
              <a:rPr lang="en-US" sz="1050" dirty="0">
                <a:solidFill>
                  <a:srgbClr val="000000"/>
                </a:solidFill>
                <a:latin typeface="Verdana" pitchFamily="34" charset="0"/>
                <a:ea typeface="Verdana" pitchFamily="34" charset="-122"/>
                <a:cs typeface="Verdana" pitchFamily="34" charset="-120"/>
              </a:rPr>
              <a:t>The programme needs them in </a:t>
            </a:r>
            <a:r>
              <a:rPr lang="en-US" sz="1050" b="1" dirty="0">
                <a:solidFill>
                  <a:srgbClr val="000000"/>
                </a:solidFill>
                <a:latin typeface="Verdana" pitchFamily="34" charset="0"/>
                <a:ea typeface="Verdana" pitchFamily="34" charset="-122"/>
                <a:cs typeface="Verdana" pitchFamily="34" charset="-120"/>
              </a:rPr>
              <a:t>greater number while it runs</a:t>
            </a:r>
            <a:endParaRPr lang="en-US" sz="1050" dirty="0"/>
          </a:p>
          <a:p>
            <a:pPr marL="190500" indent="-190500">
              <a:lnSpc>
                <a:spcPts val="1500"/>
              </a:lnSpc>
              <a:spcAft>
                <a:spcPts val="800"/>
              </a:spcAft>
              <a:buSzPct val="100000"/>
              <a:buChar char="•"/>
            </a:pPr>
            <a:r>
              <a:rPr lang="en-US" sz="1050" dirty="0">
                <a:solidFill>
                  <a:srgbClr val="000000"/>
                </a:solidFill>
                <a:latin typeface="Verdana" pitchFamily="34" charset="0"/>
                <a:ea typeface="Verdana" pitchFamily="34" charset="-122"/>
                <a:cs typeface="Verdana" pitchFamily="34" charset="-120"/>
              </a:rPr>
              <a:t>Afterwards the same team holds a </a:t>
            </a:r>
            <a:r>
              <a:rPr lang="en-US" sz="1050" b="1" dirty="0">
                <a:solidFill>
                  <a:srgbClr val="000000"/>
                </a:solidFill>
                <a:latin typeface="Verdana" pitchFamily="34" charset="0"/>
                <a:ea typeface="Verdana" pitchFamily="34" charset="-122"/>
                <a:cs typeface="Verdana" pitchFamily="34" charset="-120"/>
              </a:rPr>
              <a:t>more transferable skill set</a:t>
            </a:r>
            <a:endParaRPr lang="en-US" sz="1050" dirty="0"/>
          </a:p>
        </p:txBody>
      </p:sp>
      <p:sp>
        <p:nvSpPr>
          <p:cNvPr id="23" name="Text 21"/>
          <p:cNvSpPr txBox="1"/>
          <p:nvPr/>
        </p:nvSpPr>
        <p:spPr>
          <a:xfrm>
            <a:off x="548640" y="6053328"/>
            <a:ext cx="11064240" cy="365760"/>
          </a:xfrm>
          <a:prstGeom prst="rect">
            <a:avLst/>
          </a:prstGeom>
          <a:noFill/>
          <a:ln/>
        </p:spPr>
        <p:txBody>
          <a:bodyPr wrap="square" lIns="0" tIns="0" rIns="0" bIns="0" rtlCol="0" anchor="t"/>
          <a:lstStyle/>
          <a:p>
            <a:pPr indent="0" marL="0">
              <a:buNone/>
            </a:pPr>
            <a:r>
              <a:rPr lang="en-US" sz="1150" b="1" i="1" dirty="0">
                <a:solidFill>
                  <a:srgbClr val="000000"/>
                </a:solidFill>
                <a:latin typeface="Verdana" pitchFamily="34" charset="0"/>
                <a:ea typeface="Verdana" pitchFamily="34" charset="-122"/>
                <a:cs typeface="Verdana" pitchFamily="34" charset="-120"/>
              </a:rPr>
              <a:t>Raise all three before the audience does. Volunteering them reads as confidence; conceding them under questioning does not.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Automation Conversion Agent</dc:title>
  <dc:subject>PptxGenJS Presentation</dc:subject>
  <dc:creator>MyOrg</dc:creator>
  <cp:lastModifiedBy>MyOrg</cp:lastModifiedBy>
  <cp:revision>1</cp:revision>
  <dcterms:created xsi:type="dcterms:W3CDTF">2026-08-26T23:29:11Z</dcterms:created>
  <dcterms:modified xsi:type="dcterms:W3CDTF">2026-08-26T23:29:11Z</dcterms:modified>
</cp:coreProperties>
</file>